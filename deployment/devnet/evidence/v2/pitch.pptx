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live dashboard before the pitch. This is a functioning decision prototype; it publishes allocation weights and does not move capital.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design requirements demonstrated by the implementation and review. No market-size or customer-traction claim is made.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dashboard and demonstrate Overview, Policy lab and On-chain proof. The simulator performs no signing.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processes have separate producer wallets. Three consumer processes have separate wallets. A coordinator opens rounds and a separate service paces RPC traffic. All run locally under one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producer fetches only its assigned protocol using pinned SDK decoding. The source account owner, mint and parent market/group are checked. APY is base supply interest, excluding incentives.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 instruction reads all configured feed accounts atomically. Consumers need not wait for matching finalized slots. Every vote includes the exact input hash. The browser re-hashes the serialized snapshot bytes.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demo policy settings, not externally verified financial risk scores. Full risk methodology and category definitions need a separate integration. Caps apply on chain; the median cannot normalize itself into a prohibited allocation.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fifteen containers use Docker health checks and restart policies. Producer and consumer keys are mounted as separate secrets. The web service exposes no signing keys or Docker socket. The Fleet tab reports an actual timestamped Docker check and worker heartbeats.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Legacy allocation entrypoints are disabled to prevent bypassing the v2 policy. Existing feed PDAs retain their layout. SDK IDL and worker codecs include the new policy-bound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captured observation, not the live dashboard. The underlying weights sum to 10,000 basis points. Three registered consumer signatures are required. Use the linked accounts and transactions to inspect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recorded experiments from current live state. An injected devnet producer outlier is explicitly labeled in its journal; two honest observations preserve the median. Quorum loss and infeasible stale-input rounds retain the previous AllocationState.</a:t>
            </a:r>
          </a:p>
          <a:p>
            <a:r>
              <a:t>One extreme producer cannot move the median: Injected 999,999 bps into one Marginfi producer. Three signed reports finalized to 700 bps, the median of the reports.</a:t>
            </a:r>
          </a:p>
          <a:p>
            <a:r>
              <a:t>Losing one consumer prevents publication: With consumer-3 stopped, a round collected two votes and closed with no quorum. AllocationState retained an earlier published round.</a:t>
            </a:r>
          </a:p>
          <a:p>
            <a:r>
              <a:t>Restart recovers from on-chain round state: The restarted consumer resumed with its existing wallet, read the active snapshot, and restored a three-signature publication with no duplicate operator votes.</a:t>
            </a:r>
          </a:p>
          <a:p>
            <a:r>
              <a:t>Stale inputs do not force an invalid allocation: After all Marginfi producers stopped, its feed exceeded the configured freshness limit. Save and Kamino share a 75% category cap, so every consumer abstained. The round closed and the previous allocation was retained.</a:t>
            </a:r>
          </a:p>
          <a:p>
            <a:r>
              <a:t>The full pipeline resumes after feed recovery: All producers resumed from persistent state, refreshed the independent feeds, and three consumers published a valid allocation with all inputs eligible.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JavaScript total is 38 testing/devnet unit tests plus 7 fleet/rubric tests. Lifecycle checks cover policy authorization, input hashes, independent cadences, caps, zero medians, quorum, stale inputs, expiry and rent cleanup. Devnet observations and scenario counts are recorded in the evidence folder.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does not prove organizational decentralization or truth of a reported source rate through an on-chain mainnet verification mechanism. The demo has one host, one administrator and shared public RPC access.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task references methodology detail that was not fully supplied. Current risk settings are illustrative. Jito and capital movement are not implemented. Public devnet RPC and devnet SOL budgets remain operational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flow: pitch first, then the live dashboard. Keep a terminal showing scripts/devnet/show-fleet.sh beside the browser. Use transaction Explorer links when an audience wants independent confirmation.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plorer.solana.com/address/Fxm3c6cfmHb3taPdqVcka6USRAHkytZn3zyBUAwPbS8S?cluster=devnet" TargetMode="External"/><Relationship Id="rId3" Type="http://schemas.openxmlformats.org/officeDocument/2006/relationships/hyperlink" Target="https://explorer.solana.com/address/A8aR2KUx2G5P5XCQvRSiFtmHDHooK5abzM4GsFAH72C6?cluster=devnet" TargetMode="External"/><Relationship Id="rId4" Type="http://schemas.openxmlformats.org/officeDocument/2006/relationships/hyperlink" Target="https://explorer.solana.com/tx/5ZPGGRScMs7AxxySFPJy5x2RiHhgKKDuwi5usFA8Y1z8qkMJYMRgHyHR2fZ59sP2apq64EH4MryTgk8tXnoyexqZ?cluster=devnet"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18880/" TargetMode="External"/><Relationship Id="rId3" Type="http://schemas.openxmlformats.org/officeDocument/2006/relationships/hyperlink" Target="https://explorer.solana.com/tx/3CXGpVg2zHQFBAEtxj3Hqe9hLMS12g2zXmwbCCYKwGnsRyFYFfuCqvg9tcAjv61Y8zSXuWu8RsGYBHmiU3nT9rKP?cluster=devnet" TargetMode="External"/><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QUORUM / PRODUCT DEMO</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5400" b="1">
                <a:solidFill>
                  <a:srgbClr val="1E3022"/>
                </a:solidFill>
                <a:latin typeface="Aptos"/>
              </a:defRPr>
            </a:pPr>
            <a:r>
              <a:t>Allocation with proof.</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A USDC decision engine you can inspect, from source rates to signed consensus.</a:t>
            </a:r>
          </a:p>
        </p:txBody>
      </p:sp>
      <p:sp>
        <p:nvSpPr>
          <p:cNvPr id="5" name="Rounded Rectangle 4"/>
          <p:cNvSpPr/>
          <p:nvPr/>
        </p:nvSpPr>
        <p:spPr>
          <a:xfrm>
            <a:off x="777240" y="3291840"/>
            <a:ext cx="4206240" cy="2514600"/>
          </a:xfrm>
          <a:prstGeom prst="roundRect">
            <a:avLst/>
          </a:prstGeom>
          <a:solidFill>
            <a:srgbClr val="D8E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Real mainnet supply APY.</a:t>
            </a:r>
          </a:p>
        </p:txBody>
      </p:sp>
      <p:sp>
        <p:nvSpPr>
          <p:cNvPr id="8" name="Rounded Rectangle 7"/>
          <p:cNvSpPr/>
          <p:nvPr/>
        </p:nvSpPr>
        <p:spPr>
          <a:xfrm>
            <a:off x="5212080" y="3291840"/>
            <a:ext cx="4206240" cy="2514600"/>
          </a:xfrm>
          <a:prstGeom prst="roundRect">
            <a:avLst/>
          </a:prstGeom>
          <a:solidFill>
            <a:srgbClr val="D8E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Two stages of devnet consensus.</a:t>
            </a:r>
          </a:p>
        </p:txBody>
      </p:sp>
      <p:sp>
        <p:nvSpPr>
          <p:cNvPr id="11" name="Rounded Rectangle 10"/>
          <p:cNvSpPr/>
          <p:nvPr/>
        </p:nvSpPr>
        <p:spPr>
          <a:xfrm>
            <a:off x="9646920" y="3291840"/>
            <a:ext cx="4206240" cy="2514600"/>
          </a:xfrm>
          <a:prstGeom prst="roundRect">
            <a:avLst/>
          </a:prstGeom>
          <a:solidFill>
            <a:srgbClr val="D8E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Every published allocation has committed inputs.</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THE PROBLEM</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A yield number is only the beginning.</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An allocation also depends on freshness, risk assumptions, concentration limits, and agreement.</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Markets update on independent clocks. A consumer must reason about the actual age of each input.</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Independent operators can disagree. Publishing a number does not explain who signed it or why.</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An apparently valid vote can aggregate into an invalid portfolio. Constraints must survive consensus.</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THE PRODUCT</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Make the whole decision visible.</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One workspace connects live feed data, allocation policy, and the on-chain proof.</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Observe: read finalized USDC supply rates, feed ticks, source accounts and freshness.</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Explore: simulate risk discounts and venue caps using the exact consumed input snapshot.</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Verify: inspect individual consumer vectors, the input hash, decoded instructions and program logs.</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THE SYSTEM</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Consensus, twice.</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Agreement on observations, then agreement on allocation weights.</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9 producers → 3 median feeds</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Freeze inputs + policy on chain</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3 consumers → 1 AllocationState</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STAGE ONE / DATA</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One feed per producer. Three voices per feed.</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Marginfi, Save and Kamino share mainnet USDC, making the comparison concrete.</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Marginfi: 3 separately signing producers; 120-slot cadence; 240-slot freshness limit.</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Save: 3 separately signing producers; 180-slot cadence; 360-slot freshness limit.</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Kamino: 3 separately signing producers; 240-slot cadence; 480-slot freshness limit.</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STAGE TWO / ALLOCATION</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Different clocks. The same consumed inputs.</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A RoundContext account fixes the values, ticks, sample slots, eligibility, policy and authorized consumer set.</a:t>
            </a:r>
          </a:p>
        </p:txBody>
      </p:sp>
      <p:sp>
        <p:nvSpPr>
          <p:cNvPr id="5" name="TextBox 4"/>
          <p:cNvSpPr txBox="1"/>
          <p:nvPr/>
        </p:nvSpPr>
        <p:spPr>
          <a:xfrm>
            <a:off x="777240" y="3291840"/>
            <a:ext cx="320040" cy="1005840"/>
          </a:xfrm>
          <a:prstGeom prst="rect">
            <a:avLst/>
          </a:prstGeom>
          <a:noFill/>
        </p:spPr>
        <p:txBody>
          <a:bodyPr wrap="square" lIns="0" rIns="0">
            <a:spAutoFit/>
          </a:bodyPr>
          <a:lstStyle/>
          <a:p>
            <a:pPr>
              <a:spcAft>
                <a:spcPts val="900"/>
              </a:spcAft>
              <a:defRPr sz="1000" b="0">
                <a:solidFill>
                  <a:srgbClr val="9ABB68"/>
                </a:solidFill>
                <a:latin typeface="Aptos"/>
              </a:defRPr>
            </a:pPr>
            <a:r>
              <a:t>01</a:t>
            </a:r>
          </a:p>
        </p:txBody>
      </p:sp>
      <p:sp>
        <p:nvSpPr>
          <p:cNvPr id="6" name="TextBox 5"/>
          <p:cNvSpPr txBox="1"/>
          <p:nvPr/>
        </p:nvSpPr>
        <p:spPr>
          <a:xfrm>
            <a:off x="1234440" y="3291840"/>
            <a:ext cx="12618720" cy="1005840"/>
          </a:xfrm>
          <a:prstGeom prst="rect">
            <a:avLst/>
          </a:prstGeom>
          <a:noFill/>
        </p:spPr>
        <p:txBody>
          <a:bodyPr wrap="square" lIns="0" rIns="0">
            <a:spAutoFit/>
          </a:bodyPr>
          <a:lstStyle/>
          <a:p>
            <a:pPr>
              <a:spcAft>
                <a:spcPts val="900"/>
              </a:spcAft>
              <a:defRPr sz="1700" b="0">
                <a:solidFill>
                  <a:srgbClr val="1E3022"/>
                </a:solidFill>
                <a:latin typeface="Aptos Mono"/>
              </a:defRPr>
            </a:pPr>
            <a:r>
              <a:t>Published round 509859720</a:t>
            </a:r>
          </a:p>
        </p:txBody>
      </p:sp>
      <p:sp>
        <p:nvSpPr>
          <p:cNvPr id="7" name="TextBox 6"/>
          <p:cNvSpPr txBox="1"/>
          <p:nvPr/>
        </p:nvSpPr>
        <p:spPr>
          <a:xfrm>
            <a:off x="777240" y="4297680"/>
            <a:ext cx="320040" cy="1005840"/>
          </a:xfrm>
          <a:prstGeom prst="rect">
            <a:avLst/>
          </a:prstGeom>
          <a:noFill/>
        </p:spPr>
        <p:txBody>
          <a:bodyPr wrap="square" lIns="0" rIns="0">
            <a:spAutoFit/>
          </a:bodyPr>
          <a:lstStyle/>
          <a:p>
            <a:pPr>
              <a:spcAft>
                <a:spcPts val="900"/>
              </a:spcAft>
              <a:defRPr sz="1000" b="0">
                <a:solidFill>
                  <a:srgbClr val="9ABB68"/>
                </a:solidFill>
                <a:latin typeface="Aptos"/>
              </a:defRPr>
            </a:pPr>
            <a:r>
              <a:t>02</a:t>
            </a:r>
          </a:p>
        </p:txBody>
      </p:sp>
      <p:sp>
        <p:nvSpPr>
          <p:cNvPr id="8" name="TextBox 7"/>
          <p:cNvSpPr txBox="1"/>
          <p:nvPr/>
        </p:nvSpPr>
        <p:spPr>
          <a:xfrm>
            <a:off x="1234440" y="4297680"/>
            <a:ext cx="12618720" cy="1005840"/>
          </a:xfrm>
          <a:prstGeom prst="rect">
            <a:avLst/>
          </a:prstGeom>
          <a:noFill/>
        </p:spPr>
        <p:txBody>
          <a:bodyPr wrap="square" lIns="0" rIns="0">
            <a:spAutoFit/>
          </a:bodyPr>
          <a:lstStyle/>
          <a:p>
            <a:pPr>
              <a:spcAft>
                <a:spcPts val="900"/>
              </a:spcAft>
              <a:defRPr sz="1700" b="0">
                <a:solidFill>
                  <a:srgbClr val="1E3022"/>
                </a:solidFill>
                <a:latin typeface="Aptos Mono"/>
              </a:defRPr>
            </a:pPr>
            <a:r>
              <a:t>Snapshot anchor slot 509859730</a:t>
            </a:r>
          </a:p>
        </p:txBody>
      </p:sp>
      <p:sp>
        <p:nvSpPr>
          <p:cNvPr id="9" name="TextBox 8"/>
          <p:cNvSpPr txBox="1"/>
          <p:nvPr/>
        </p:nvSpPr>
        <p:spPr>
          <a:xfrm>
            <a:off x="777240" y="5303520"/>
            <a:ext cx="320040" cy="1005840"/>
          </a:xfrm>
          <a:prstGeom prst="rect">
            <a:avLst/>
          </a:prstGeom>
          <a:noFill/>
        </p:spPr>
        <p:txBody>
          <a:bodyPr wrap="square" lIns="0" rIns="0">
            <a:spAutoFit/>
          </a:bodyPr>
          <a:lstStyle/>
          <a:p>
            <a:pPr>
              <a:spcAft>
                <a:spcPts val="900"/>
              </a:spcAft>
              <a:defRPr sz="1000" b="0">
                <a:solidFill>
                  <a:srgbClr val="9ABB68"/>
                </a:solidFill>
                <a:latin typeface="Aptos"/>
              </a:defRPr>
            </a:pPr>
            <a:r>
              <a:t>03</a:t>
            </a:r>
          </a:p>
        </p:txBody>
      </p:sp>
      <p:sp>
        <p:nvSpPr>
          <p:cNvPr id="10" name="TextBox 9"/>
          <p:cNvSpPr txBox="1"/>
          <p:nvPr/>
        </p:nvSpPr>
        <p:spPr>
          <a:xfrm>
            <a:off x="1234440" y="5303520"/>
            <a:ext cx="12618720" cy="1005840"/>
          </a:xfrm>
          <a:prstGeom prst="rect">
            <a:avLst/>
          </a:prstGeom>
          <a:noFill/>
        </p:spPr>
        <p:txBody>
          <a:bodyPr wrap="square" lIns="0" rIns="0">
            <a:spAutoFit/>
          </a:bodyPr>
          <a:lstStyle/>
          <a:p>
            <a:pPr>
              <a:spcAft>
                <a:spcPts val="900"/>
              </a:spcAft>
              <a:defRPr sz="1700" b="0">
                <a:solidFill>
                  <a:srgbClr val="1E3022"/>
                </a:solidFill>
                <a:latin typeface="Aptos Mono"/>
              </a:defRPr>
            </a:pPr>
            <a:r>
              <a:t>SHA-256 10d7df9c596ff35dc177da2f83d5c5ff717bb78680d940dbb8c39331812e98a9</a:t>
            </a:r>
          </a:p>
        </p:txBody>
      </p:sp>
      <p:sp>
        <p:nvSpPr>
          <p:cNvPr id="11" name="TextBox 10"/>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2" name="TextBox 11"/>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POLICY</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Constraints are part of publication.</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The program checks each vote and the final aggregated vector against the frozen policy.</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50% per-venue cap. Save + Kamino share a 75% illustrative category budget.</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5% / 10% / 15% illustrative risk discounts. Inputs at or above a 60% discount are screened.</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Stale or screened positions stay at zero. Infeasible and zero-median results close without overwriting published state.</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BUILT AND RUNNING</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A complete local devnet fleet.</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Separate services make each role and its evidence reviewable.</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2300" b="0">
                <a:solidFill>
                  <a:srgbClr val="1E3022"/>
                </a:solidFill>
                <a:latin typeface="Aptos"/>
              </a:defRPr>
            </a:pPr>
            <a:r>
              <a:t>9 | Single-feed producer containers</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2300" b="0">
                <a:solidFill>
                  <a:srgbClr val="1E3022"/>
                </a:solidFill>
                <a:latin typeface="Aptos"/>
              </a:defRPr>
            </a:pPr>
            <a:r>
              <a:t>3 | Consumer containers with separate wallets</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2300" b="0">
                <a:solidFill>
                  <a:srgbClr val="1E3022"/>
                </a:solidFill>
                <a:latin typeface="Aptos"/>
              </a:defRPr>
            </a:pPr>
            <a:r>
              <a:t>3 | Coordinator, RPC gateway and read-only web services</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ENGINEERING</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Six confirmed logic issues addressed.</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The contract review became reproducible regression checks.</a:t>
            </a:r>
          </a:p>
        </p:txBody>
      </p:sp>
      <p:sp>
        <p:nvSpPr>
          <p:cNvPr id="5" name="TextBox 4"/>
          <p:cNvSpPr txBox="1"/>
          <p:nvPr/>
        </p:nvSpPr>
        <p:spPr>
          <a:xfrm>
            <a:off x="777240" y="329184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01</a:t>
            </a:r>
          </a:p>
        </p:txBody>
      </p:sp>
      <p:sp>
        <p:nvSpPr>
          <p:cNvPr id="6" name="TextBox 5"/>
          <p:cNvSpPr txBox="1"/>
          <p:nvPr/>
        </p:nvSpPr>
        <p:spPr>
          <a:xfrm>
            <a:off x="1234440" y="329184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Cap-breaking median renormalization → policy-constrained publication or safe abort.</a:t>
            </a:r>
          </a:p>
        </p:txBody>
      </p:sp>
      <p:sp>
        <p:nvSpPr>
          <p:cNvPr id="7" name="TextBox 6"/>
          <p:cNvSpPr txBox="1"/>
          <p:nvPr/>
        </p:nvSpPr>
        <p:spPr>
          <a:xfrm>
            <a:off x="777240" y="388620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02</a:t>
            </a:r>
          </a:p>
        </p:txBody>
      </p:sp>
      <p:sp>
        <p:nvSpPr>
          <p:cNvPr id="8" name="TextBox 7"/>
          <p:cNvSpPr txBox="1"/>
          <p:nvPr/>
        </p:nvSpPr>
        <p:spPr>
          <a:xfrm>
            <a:off x="1234440" y="388620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Divergence overflow → u128 arithmetic before division.</a:t>
            </a:r>
          </a:p>
        </p:txBody>
      </p:sp>
      <p:sp>
        <p:nvSpPr>
          <p:cNvPr id="9" name="TextBox 8"/>
          <p:cNvSpPr txBox="1"/>
          <p:nvPr/>
        </p:nvSpPr>
        <p:spPr>
          <a:xfrm>
            <a:off x="777240" y="448056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03</a:t>
            </a:r>
          </a:p>
        </p:txBody>
      </p:sp>
      <p:sp>
        <p:nvSpPr>
          <p:cNvPr id="10" name="TextBox 9"/>
          <p:cNvSpPr txBox="1"/>
          <p:nvPr/>
        </p:nvSpPr>
        <p:spPr>
          <a:xfrm>
            <a:off x="1234440" y="448056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Superseded rounds → terminal, reclaimable accounts.</a:t>
            </a:r>
          </a:p>
        </p:txBody>
      </p:sp>
      <p:sp>
        <p:nvSpPr>
          <p:cNvPr id="11" name="TextBox 10"/>
          <p:cNvSpPr txBox="1"/>
          <p:nvPr/>
        </p:nvSpPr>
        <p:spPr>
          <a:xfrm>
            <a:off x="777240" y="507492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04</a:t>
            </a:r>
          </a:p>
        </p:txBody>
      </p:sp>
      <p:sp>
        <p:nvSpPr>
          <p:cNvPr id="12" name="TextBox 11"/>
          <p:cNvSpPr txBox="1"/>
          <p:nvPr/>
        </p:nvSpPr>
        <p:spPr>
          <a:xfrm>
            <a:off x="1234440" y="507492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Zero median → terminal no-publication outcome.</a:t>
            </a:r>
          </a:p>
        </p:txBody>
      </p:sp>
      <p:sp>
        <p:nvSpPr>
          <p:cNvPr id="13" name="TextBox 12"/>
          <p:cNvSpPr txBox="1"/>
          <p:nvPr/>
        </p:nvSpPr>
        <p:spPr>
          <a:xfrm>
            <a:off x="777240" y="566928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05</a:t>
            </a:r>
          </a:p>
        </p:txBody>
      </p:sp>
      <p:sp>
        <p:nvSpPr>
          <p:cNvPr id="14" name="TextBox 13"/>
          <p:cNvSpPr txBox="1"/>
          <p:nvPr/>
        </p:nvSpPr>
        <p:spPr>
          <a:xfrm>
            <a:off x="1234440" y="566928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Window-width changes → immutable feed cadence / new feed required.</a:t>
            </a:r>
          </a:p>
        </p:txBody>
      </p:sp>
      <p:sp>
        <p:nvSpPr>
          <p:cNvPr id="15" name="TextBox 14"/>
          <p:cNvSpPr txBox="1"/>
          <p:nvPr/>
        </p:nvSpPr>
        <p:spPr>
          <a:xfrm>
            <a:off x="777240" y="626364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06</a:t>
            </a:r>
          </a:p>
        </p:txBody>
      </p:sp>
      <p:sp>
        <p:nvSpPr>
          <p:cNvPr id="16" name="TextBox 15"/>
          <p:cNvSpPr txBox="1"/>
          <p:nvPr/>
        </p:nvSpPr>
        <p:spPr>
          <a:xfrm>
            <a:off x="1234440" y="626364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Contradictory min/max intervals → configuration rejected.</a:t>
            </a:r>
          </a:p>
        </p:txBody>
      </p:sp>
      <p:sp>
        <p:nvSpPr>
          <p:cNvPr id="17" name="TextBox 16"/>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8" name="TextBox 17"/>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LIVE EVIDENCE</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A real published decision.</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USDC allocation read from devnet at 2026-10-11T09:40:11.849Z.</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2700" b="0">
                <a:solidFill>
                  <a:srgbClr val="1E3022"/>
                </a:solidFill>
                <a:latin typeface="Aptos"/>
              </a:defRPr>
            </a:pPr>
            <a:r>
              <a:t>Marginfi | 50.00%</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2700" b="0">
                <a:solidFill>
                  <a:srgbClr val="1E3022"/>
                </a:solidFill>
                <a:latin typeface="Aptos"/>
              </a:defRPr>
            </a:pPr>
            <a:r>
              <a:t>Save | 15.98%</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2700" b="0">
                <a:solidFill>
                  <a:srgbClr val="1E3022"/>
                </a:solidFill>
                <a:latin typeface="Aptos"/>
              </a:defRPr>
            </a:pPr>
            <a:r>
              <a:t>Kamino | 34.02%</a:t>
            </a:r>
          </a:p>
        </p:txBody>
      </p:sp>
      <p:sp>
        <p:nvSpPr>
          <p:cNvPr id="14" name="TextBox 13"/>
          <p:cNvSpPr txBox="1"/>
          <p:nvPr/>
        </p:nvSpPr>
        <p:spPr>
          <a:xfrm>
            <a:off x="777240" y="6858000"/>
            <a:ext cx="4023360" cy="457200"/>
          </a:xfrm>
          <a:prstGeom prst="rect">
            <a:avLst/>
          </a:prstGeom>
          <a:noFill/>
        </p:spPr>
        <p:txBody>
          <a:bodyPr wrap="square" lIns="0" rIns="0">
            <a:spAutoFit/>
          </a:bodyPr>
          <a:lstStyle/>
          <a:p>
            <a:pPr>
              <a:spcAft>
                <a:spcPts val="900"/>
              </a:spcAft>
              <a:defRPr sz="1200" b="0">
                <a:solidFill>
                  <a:srgbClr val="1E3022"/>
                </a:solidFill>
                <a:latin typeface="Aptos"/>
              </a:defRPr>
            </a:pPr>
            <a:r>
              <a:rPr>
                <a:hlinkClick r:id="rId2"/>
              </a:rPr>
              <a:t>AllocationState account ↗</a:t>
            </a:r>
          </a:p>
        </p:txBody>
      </p:sp>
      <p:sp>
        <p:nvSpPr>
          <p:cNvPr id="15" name="TextBox 14"/>
          <p:cNvSpPr txBox="1"/>
          <p:nvPr/>
        </p:nvSpPr>
        <p:spPr>
          <a:xfrm>
            <a:off x="5074920" y="6858000"/>
            <a:ext cx="4023360" cy="457200"/>
          </a:xfrm>
          <a:prstGeom prst="rect">
            <a:avLst/>
          </a:prstGeom>
          <a:noFill/>
        </p:spPr>
        <p:txBody>
          <a:bodyPr wrap="square" lIns="0" rIns="0">
            <a:spAutoFit/>
          </a:bodyPr>
          <a:lstStyle/>
          <a:p>
            <a:pPr>
              <a:spcAft>
                <a:spcPts val="900"/>
              </a:spcAft>
              <a:defRPr sz="1200" b="0">
                <a:solidFill>
                  <a:srgbClr val="1E3022"/>
                </a:solidFill>
                <a:latin typeface="Aptos"/>
              </a:defRPr>
            </a:pPr>
            <a:r>
              <a:rPr>
                <a:hlinkClick r:id="rId3"/>
              </a:rPr>
              <a:t>Input snapshot ↗</a:t>
            </a:r>
          </a:p>
        </p:txBody>
      </p:sp>
      <p:sp>
        <p:nvSpPr>
          <p:cNvPr id="16" name="TextBox 15"/>
          <p:cNvSpPr txBox="1"/>
          <p:nvPr/>
        </p:nvSpPr>
        <p:spPr>
          <a:xfrm>
            <a:off x="9372600" y="6858000"/>
            <a:ext cx="4023360" cy="457200"/>
          </a:xfrm>
          <a:prstGeom prst="rect">
            <a:avLst/>
          </a:prstGeom>
          <a:noFill/>
        </p:spPr>
        <p:txBody>
          <a:bodyPr wrap="square" lIns="0" rIns="0">
            <a:spAutoFit/>
          </a:bodyPr>
          <a:lstStyle/>
          <a:p>
            <a:pPr>
              <a:spcAft>
                <a:spcPts val="900"/>
              </a:spcAft>
              <a:defRPr sz="1200" b="0">
                <a:solidFill>
                  <a:srgbClr val="1E3022"/>
                </a:solidFill>
                <a:latin typeface="Aptos"/>
              </a:defRPr>
            </a:pPr>
            <a:r>
              <a:rPr>
                <a:hlinkClick r:id="rId4"/>
              </a:rPr>
              <a:t>Decoded publication transaction ↗</a:t>
            </a:r>
          </a:p>
        </p:txBody>
      </p:sp>
      <p:sp>
        <p:nvSpPr>
          <p:cNvPr id="17" name="TextBox 16"/>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8" name="TextBox 17"/>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RESILIENCE</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Demonstrate disagreement and loss.</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Five devnet experiments, with recorded transaction signatures.</a:t>
            </a:r>
          </a:p>
        </p:txBody>
      </p:sp>
      <p:sp>
        <p:nvSpPr>
          <p:cNvPr id="5" name="TextBox 4"/>
          <p:cNvSpPr txBox="1"/>
          <p:nvPr/>
        </p:nvSpPr>
        <p:spPr>
          <a:xfrm>
            <a:off x="777240" y="3291840"/>
            <a:ext cx="320040" cy="658368"/>
          </a:xfrm>
          <a:prstGeom prst="rect">
            <a:avLst/>
          </a:prstGeom>
          <a:noFill/>
        </p:spPr>
        <p:txBody>
          <a:bodyPr wrap="square" lIns="0" rIns="0">
            <a:spAutoFit/>
          </a:bodyPr>
          <a:lstStyle/>
          <a:p>
            <a:pPr>
              <a:spcAft>
                <a:spcPts val="900"/>
              </a:spcAft>
              <a:defRPr sz="1000" b="0">
                <a:solidFill>
                  <a:srgbClr val="9ABB68"/>
                </a:solidFill>
                <a:latin typeface="Aptos"/>
              </a:defRPr>
            </a:pPr>
            <a:r>
              <a:t>01</a:t>
            </a:r>
          </a:p>
        </p:txBody>
      </p:sp>
      <p:sp>
        <p:nvSpPr>
          <p:cNvPr id="6" name="TextBox 5"/>
          <p:cNvSpPr txBox="1"/>
          <p:nvPr/>
        </p:nvSpPr>
        <p:spPr>
          <a:xfrm>
            <a:off x="1234440" y="3291840"/>
            <a:ext cx="12618720" cy="658368"/>
          </a:xfrm>
          <a:prstGeom prst="rect">
            <a:avLst/>
          </a:prstGeom>
          <a:noFill/>
        </p:spPr>
        <p:txBody>
          <a:bodyPr wrap="square" lIns="0" rIns="0">
            <a:spAutoFit/>
          </a:bodyPr>
          <a:lstStyle/>
          <a:p>
            <a:pPr>
              <a:spcAft>
                <a:spcPts val="900"/>
              </a:spcAft>
              <a:defRPr sz="1700" b="0">
                <a:solidFill>
                  <a:srgbClr val="1E3022"/>
                </a:solidFill>
                <a:latin typeface="Aptos"/>
              </a:defRPr>
            </a:pPr>
            <a:r>
              <a:t>Verified: One extreme producer cannot move the median</a:t>
            </a:r>
          </a:p>
        </p:txBody>
      </p:sp>
      <p:sp>
        <p:nvSpPr>
          <p:cNvPr id="7" name="TextBox 6"/>
          <p:cNvSpPr txBox="1"/>
          <p:nvPr/>
        </p:nvSpPr>
        <p:spPr>
          <a:xfrm>
            <a:off x="777240" y="3950208"/>
            <a:ext cx="320040" cy="658368"/>
          </a:xfrm>
          <a:prstGeom prst="rect">
            <a:avLst/>
          </a:prstGeom>
          <a:noFill/>
        </p:spPr>
        <p:txBody>
          <a:bodyPr wrap="square" lIns="0" rIns="0">
            <a:spAutoFit/>
          </a:bodyPr>
          <a:lstStyle/>
          <a:p>
            <a:pPr>
              <a:spcAft>
                <a:spcPts val="900"/>
              </a:spcAft>
              <a:defRPr sz="1000" b="0">
                <a:solidFill>
                  <a:srgbClr val="9ABB68"/>
                </a:solidFill>
                <a:latin typeface="Aptos"/>
              </a:defRPr>
            </a:pPr>
            <a:r>
              <a:t>02</a:t>
            </a:r>
          </a:p>
        </p:txBody>
      </p:sp>
      <p:sp>
        <p:nvSpPr>
          <p:cNvPr id="8" name="TextBox 7"/>
          <p:cNvSpPr txBox="1"/>
          <p:nvPr/>
        </p:nvSpPr>
        <p:spPr>
          <a:xfrm>
            <a:off x="1234440" y="3950208"/>
            <a:ext cx="12618720" cy="658368"/>
          </a:xfrm>
          <a:prstGeom prst="rect">
            <a:avLst/>
          </a:prstGeom>
          <a:noFill/>
        </p:spPr>
        <p:txBody>
          <a:bodyPr wrap="square" lIns="0" rIns="0">
            <a:spAutoFit/>
          </a:bodyPr>
          <a:lstStyle/>
          <a:p>
            <a:pPr>
              <a:spcAft>
                <a:spcPts val="900"/>
              </a:spcAft>
              <a:defRPr sz="1700" b="0">
                <a:solidFill>
                  <a:srgbClr val="1E3022"/>
                </a:solidFill>
                <a:latin typeface="Aptos"/>
              </a:defRPr>
            </a:pPr>
            <a:r>
              <a:t>Verified: Losing one consumer prevents publication</a:t>
            </a:r>
          </a:p>
        </p:txBody>
      </p:sp>
      <p:sp>
        <p:nvSpPr>
          <p:cNvPr id="9" name="TextBox 8"/>
          <p:cNvSpPr txBox="1"/>
          <p:nvPr/>
        </p:nvSpPr>
        <p:spPr>
          <a:xfrm>
            <a:off x="777240" y="4608576"/>
            <a:ext cx="320040" cy="658368"/>
          </a:xfrm>
          <a:prstGeom prst="rect">
            <a:avLst/>
          </a:prstGeom>
          <a:noFill/>
        </p:spPr>
        <p:txBody>
          <a:bodyPr wrap="square" lIns="0" rIns="0">
            <a:spAutoFit/>
          </a:bodyPr>
          <a:lstStyle/>
          <a:p>
            <a:pPr>
              <a:spcAft>
                <a:spcPts val="900"/>
              </a:spcAft>
              <a:defRPr sz="1000" b="0">
                <a:solidFill>
                  <a:srgbClr val="9ABB68"/>
                </a:solidFill>
                <a:latin typeface="Aptos"/>
              </a:defRPr>
            </a:pPr>
            <a:r>
              <a:t>03</a:t>
            </a:r>
          </a:p>
        </p:txBody>
      </p:sp>
      <p:sp>
        <p:nvSpPr>
          <p:cNvPr id="10" name="TextBox 9"/>
          <p:cNvSpPr txBox="1"/>
          <p:nvPr/>
        </p:nvSpPr>
        <p:spPr>
          <a:xfrm>
            <a:off x="1234440" y="4608576"/>
            <a:ext cx="12618720" cy="658368"/>
          </a:xfrm>
          <a:prstGeom prst="rect">
            <a:avLst/>
          </a:prstGeom>
          <a:noFill/>
        </p:spPr>
        <p:txBody>
          <a:bodyPr wrap="square" lIns="0" rIns="0">
            <a:spAutoFit/>
          </a:bodyPr>
          <a:lstStyle/>
          <a:p>
            <a:pPr>
              <a:spcAft>
                <a:spcPts val="900"/>
              </a:spcAft>
              <a:defRPr sz="1700" b="0">
                <a:solidFill>
                  <a:srgbClr val="1E3022"/>
                </a:solidFill>
                <a:latin typeface="Aptos"/>
              </a:defRPr>
            </a:pPr>
            <a:r>
              <a:t>Verified: Restart recovers from on-chain round state</a:t>
            </a:r>
          </a:p>
        </p:txBody>
      </p:sp>
      <p:sp>
        <p:nvSpPr>
          <p:cNvPr id="11" name="TextBox 10"/>
          <p:cNvSpPr txBox="1"/>
          <p:nvPr/>
        </p:nvSpPr>
        <p:spPr>
          <a:xfrm>
            <a:off x="777240" y="5266944"/>
            <a:ext cx="320040" cy="658368"/>
          </a:xfrm>
          <a:prstGeom prst="rect">
            <a:avLst/>
          </a:prstGeom>
          <a:noFill/>
        </p:spPr>
        <p:txBody>
          <a:bodyPr wrap="square" lIns="0" rIns="0">
            <a:spAutoFit/>
          </a:bodyPr>
          <a:lstStyle/>
          <a:p>
            <a:pPr>
              <a:spcAft>
                <a:spcPts val="900"/>
              </a:spcAft>
              <a:defRPr sz="1000" b="0">
                <a:solidFill>
                  <a:srgbClr val="9ABB68"/>
                </a:solidFill>
                <a:latin typeface="Aptos"/>
              </a:defRPr>
            </a:pPr>
            <a:r>
              <a:t>04</a:t>
            </a:r>
          </a:p>
        </p:txBody>
      </p:sp>
      <p:sp>
        <p:nvSpPr>
          <p:cNvPr id="12" name="TextBox 11"/>
          <p:cNvSpPr txBox="1"/>
          <p:nvPr/>
        </p:nvSpPr>
        <p:spPr>
          <a:xfrm>
            <a:off x="1234440" y="5266944"/>
            <a:ext cx="12618720" cy="658368"/>
          </a:xfrm>
          <a:prstGeom prst="rect">
            <a:avLst/>
          </a:prstGeom>
          <a:noFill/>
        </p:spPr>
        <p:txBody>
          <a:bodyPr wrap="square" lIns="0" rIns="0">
            <a:spAutoFit/>
          </a:bodyPr>
          <a:lstStyle/>
          <a:p>
            <a:pPr>
              <a:spcAft>
                <a:spcPts val="900"/>
              </a:spcAft>
              <a:defRPr sz="1700" b="0">
                <a:solidFill>
                  <a:srgbClr val="1E3022"/>
                </a:solidFill>
                <a:latin typeface="Aptos"/>
              </a:defRPr>
            </a:pPr>
            <a:r>
              <a:t>Verified: Stale inputs do not force an invalid allocation</a:t>
            </a:r>
          </a:p>
        </p:txBody>
      </p:sp>
      <p:sp>
        <p:nvSpPr>
          <p:cNvPr id="13" name="TextBox 12"/>
          <p:cNvSpPr txBox="1"/>
          <p:nvPr/>
        </p:nvSpPr>
        <p:spPr>
          <a:xfrm>
            <a:off x="777240" y="5925312"/>
            <a:ext cx="320040" cy="658368"/>
          </a:xfrm>
          <a:prstGeom prst="rect">
            <a:avLst/>
          </a:prstGeom>
          <a:noFill/>
        </p:spPr>
        <p:txBody>
          <a:bodyPr wrap="square" lIns="0" rIns="0">
            <a:spAutoFit/>
          </a:bodyPr>
          <a:lstStyle/>
          <a:p>
            <a:pPr>
              <a:spcAft>
                <a:spcPts val="900"/>
              </a:spcAft>
              <a:defRPr sz="1000" b="0">
                <a:solidFill>
                  <a:srgbClr val="9ABB68"/>
                </a:solidFill>
                <a:latin typeface="Aptos"/>
              </a:defRPr>
            </a:pPr>
            <a:r>
              <a:t>05</a:t>
            </a:r>
          </a:p>
        </p:txBody>
      </p:sp>
      <p:sp>
        <p:nvSpPr>
          <p:cNvPr id="14" name="TextBox 13"/>
          <p:cNvSpPr txBox="1"/>
          <p:nvPr/>
        </p:nvSpPr>
        <p:spPr>
          <a:xfrm>
            <a:off x="1234440" y="5925312"/>
            <a:ext cx="12618720" cy="658368"/>
          </a:xfrm>
          <a:prstGeom prst="rect">
            <a:avLst/>
          </a:prstGeom>
          <a:noFill/>
        </p:spPr>
        <p:txBody>
          <a:bodyPr wrap="square" lIns="0" rIns="0">
            <a:spAutoFit/>
          </a:bodyPr>
          <a:lstStyle/>
          <a:p>
            <a:pPr>
              <a:spcAft>
                <a:spcPts val="900"/>
              </a:spcAft>
              <a:defRPr sz="1700" b="0">
                <a:solidFill>
                  <a:srgbClr val="1E3022"/>
                </a:solidFill>
                <a:latin typeface="Aptos"/>
              </a:defRPr>
            </a:pPr>
            <a:r>
              <a:t>Verified: The full pipeline resumes after feed recovery</a:t>
            </a:r>
          </a:p>
        </p:txBody>
      </p:sp>
      <p:sp>
        <p:nvSpPr>
          <p:cNvPr id="15" name="TextBox 14"/>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6" name="TextBox 15"/>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VALIDATION</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Proof beyond a screenshot.</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Unit checks, compiled-program lifecycle checks, devnet transactions, and a browser proof viewer.</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2300" b="0">
                <a:solidFill>
                  <a:srgbClr val="1E3022"/>
                </a:solidFill>
                <a:latin typeface="Aptos"/>
              </a:defRPr>
            </a:pPr>
            <a:r>
              <a:t>21 | Native contract tests</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2300" b="0">
                <a:solidFill>
                  <a:srgbClr val="1E3022"/>
                </a:solidFill>
                <a:latin typeface="Aptos"/>
              </a:defRPr>
            </a:pPr>
            <a:r>
              <a:t>12 | Local-validator lifecycle checks against the SBF binary</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2300" b="0">
                <a:solidFill>
                  <a:srgbClr val="1E3022"/>
                </a:solidFill>
                <a:latin typeface="Aptos"/>
              </a:defRPr>
            </a:pPr>
            <a:r>
              <a:t>45 | RPC/client + allocation JavaScript unit tests</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WHAT THIS DEMO PROVES</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A decision pipeline with an audit trail.</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The end-to-end path is live, bounded and reproducible.</a:t>
            </a:r>
          </a:p>
        </p:txBody>
      </p:sp>
      <p:sp>
        <p:nvSpPr>
          <p:cNvPr id="5" name="Rounded Rectangle 4"/>
          <p:cNvSpPr/>
          <p:nvPr/>
        </p:nvSpPr>
        <p:spPr>
          <a:xfrm>
            <a:off x="77724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Rates from three real mainnet USDC accounts flow through separately signing producer processes.</a:t>
            </a:r>
          </a:p>
        </p:txBody>
      </p:sp>
      <p:sp>
        <p:nvSpPr>
          <p:cNvPr id="8" name="Rounded Rectangle 7"/>
          <p:cNvSpPr/>
          <p:nvPr/>
        </p:nvSpPr>
        <p:spPr>
          <a:xfrm>
            <a:off x="521208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Three consumers agree on frozen asynchronous inputs and publish policy-valid allocation weights on devnet.</a:t>
            </a:r>
          </a:p>
        </p:txBody>
      </p:sp>
      <p:sp>
        <p:nvSpPr>
          <p:cNvPr id="11" name="Rounded Rectangle 10"/>
          <p:cNvSpPr/>
          <p:nvPr/>
        </p:nvSpPr>
        <p:spPr>
          <a:xfrm>
            <a:off x="9646920" y="3291840"/>
            <a:ext cx="4206240" cy="2514600"/>
          </a:xfrm>
          <a:prstGeom prst="roundRect">
            <a:avLst/>
          </a:prstGeom>
          <a:solidFill>
            <a:srgbClr val="E9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The presentation can show source provenance, account bytes, transaction decoding, container health and recovery.</a:t>
            </a:r>
          </a:p>
        </p:txBody>
      </p:sp>
      <p:sp>
        <p:nvSpPr>
          <p:cNvPr id="14" name="TextBox 13"/>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5" name="TextBox 14"/>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WHAT REMAINS</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4200" b="1">
                <a:solidFill>
                  <a:srgbClr val="1E3022"/>
                </a:solidFill>
                <a:latin typeface="Aptos"/>
              </a:defRPr>
            </a:pPr>
            <a:r>
              <a:t>The path from prototype to production.</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Each milestone adds a capability or reduces an explicitly known dependency.</a:t>
            </a:r>
          </a:p>
        </p:txBody>
      </p:sp>
      <p:sp>
        <p:nvSpPr>
          <p:cNvPr id="5" name="TextBox 4"/>
          <p:cNvSpPr txBox="1"/>
          <p:nvPr/>
        </p:nvSpPr>
        <p:spPr>
          <a:xfrm>
            <a:off x="777240" y="329184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01</a:t>
            </a:r>
          </a:p>
        </p:txBody>
      </p:sp>
      <p:sp>
        <p:nvSpPr>
          <p:cNvPr id="6" name="TextBox 5"/>
          <p:cNvSpPr txBox="1"/>
          <p:nvPr/>
        </p:nvSpPr>
        <p:spPr>
          <a:xfrm>
            <a:off x="1234440" y="329184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Expand toward approximately ten distinct feeds across four or five protocols.</a:t>
            </a:r>
          </a:p>
        </p:txBody>
      </p:sp>
      <p:sp>
        <p:nvSpPr>
          <p:cNvPr id="7" name="TextBox 6"/>
          <p:cNvSpPr txBox="1"/>
          <p:nvPr/>
        </p:nvSpPr>
        <p:spPr>
          <a:xfrm>
            <a:off x="777240" y="388620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02</a:t>
            </a:r>
          </a:p>
        </p:txBody>
      </p:sp>
      <p:sp>
        <p:nvSpPr>
          <p:cNvPr id="8" name="TextBox 7"/>
          <p:cNvSpPr txBox="1"/>
          <p:nvPr/>
        </p:nvSpPr>
        <p:spPr>
          <a:xfrm>
            <a:off x="1234440" y="388620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Integrate the full specified risk methodology and externally grounded category policy.</a:t>
            </a:r>
          </a:p>
        </p:txBody>
      </p:sp>
      <p:sp>
        <p:nvSpPr>
          <p:cNvPr id="9" name="TextBox 8"/>
          <p:cNvSpPr txBox="1"/>
          <p:nvPr/>
        </p:nvSpPr>
        <p:spPr>
          <a:xfrm>
            <a:off x="777240" y="448056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03</a:t>
            </a:r>
          </a:p>
        </p:txBody>
      </p:sp>
      <p:sp>
        <p:nvSpPr>
          <p:cNvPr id="10" name="TextBox 9"/>
          <p:cNvSpPr txBox="1"/>
          <p:nvPr/>
        </p:nvSpPr>
        <p:spPr>
          <a:xfrm>
            <a:off x="1234440" y="448056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Run independent operators on separate hosts with independent RPC providers.</a:t>
            </a:r>
          </a:p>
        </p:txBody>
      </p:sp>
      <p:sp>
        <p:nvSpPr>
          <p:cNvPr id="11" name="TextBox 10"/>
          <p:cNvSpPr txBox="1"/>
          <p:nvPr/>
        </p:nvSpPr>
        <p:spPr>
          <a:xfrm>
            <a:off x="777240" y="507492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04</a:t>
            </a:r>
          </a:p>
        </p:txBody>
      </p:sp>
      <p:sp>
        <p:nvSpPr>
          <p:cNvPr id="12" name="TextBox 11"/>
          <p:cNvSpPr txBox="1"/>
          <p:nvPr/>
        </p:nvSpPr>
        <p:spPr>
          <a:xfrm>
            <a:off x="1234440" y="507492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Migrate legacy standalone Rust consumers and harnesses to the policy-bound v2 interface.</a:t>
            </a:r>
          </a:p>
        </p:txBody>
      </p:sp>
      <p:sp>
        <p:nvSpPr>
          <p:cNvPr id="13" name="TextBox 12"/>
          <p:cNvSpPr txBox="1"/>
          <p:nvPr/>
        </p:nvSpPr>
        <p:spPr>
          <a:xfrm>
            <a:off x="777240" y="566928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05</a:t>
            </a:r>
          </a:p>
        </p:txBody>
      </p:sp>
      <p:sp>
        <p:nvSpPr>
          <p:cNvPr id="14" name="TextBox 13"/>
          <p:cNvSpPr txBox="1"/>
          <p:nvPr/>
        </p:nvSpPr>
        <p:spPr>
          <a:xfrm>
            <a:off x="1234440" y="566928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Evaluate Jito delivery, production monitoring, budget replenishment, and a security audit.</a:t>
            </a:r>
          </a:p>
        </p:txBody>
      </p:sp>
      <p:sp>
        <p:nvSpPr>
          <p:cNvPr id="15" name="TextBox 14"/>
          <p:cNvSpPr txBox="1"/>
          <p:nvPr/>
        </p:nvSpPr>
        <p:spPr>
          <a:xfrm>
            <a:off x="777240" y="6263640"/>
            <a:ext cx="320040" cy="594360"/>
          </a:xfrm>
          <a:prstGeom prst="rect">
            <a:avLst/>
          </a:prstGeom>
          <a:noFill/>
        </p:spPr>
        <p:txBody>
          <a:bodyPr wrap="square" lIns="0" rIns="0">
            <a:spAutoFit/>
          </a:bodyPr>
          <a:lstStyle/>
          <a:p>
            <a:pPr>
              <a:spcAft>
                <a:spcPts val="900"/>
              </a:spcAft>
              <a:defRPr sz="1000" b="0">
                <a:solidFill>
                  <a:srgbClr val="9ABB68"/>
                </a:solidFill>
                <a:latin typeface="Aptos"/>
              </a:defRPr>
            </a:pPr>
            <a:r>
              <a:t>06</a:t>
            </a:r>
          </a:p>
        </p:txBody>
      </p:sp>
      <p:sp>
        <p:nvSpPr>
          <p:cNvPr id="16" name="TextBox 15"/>
          <p:cNvSpPr txBox="1"/>
          <p:nvPr/>
        </p:nvSpPr>
        <p:spPr>
          <a:xfrm>
            <a:off x="1234440" y="6263640"/>
            <a:ext cx="12618720" cy="594360"/>
          </a:xfrm>
          <a:prstGeom prst="rect">
            <a:avLst/>
          </a:prstGeom>
          <a:noFill/>
        </p:spPr>
        <p:txBody>
          <a:bodyPr wrap="square" lIns="0" rIns="0">
            <a:spAutoFit/>
          </a:bodyPr>
          <a:lstStyle/>
          <a:p>
            <a:pPr>
              <a:spcAft>
                <a:spcPts val="900"/>
              </a:spcAft>
              <a:defRPr sz="1700" b="0">
                <a:solidFill>
                  <a:srgbClr val="1E3022"/>
                </a:solidFill>
                <a:latin typeface="Aptos"/>
              </a:defRPr>
            </a:pPr>
            <a:r>
              <a:t>Design capital execution, portfolio accounting, and mainnet rollout as separate stages.</a:t>
            </a:r>
          </a:p>
        </p:txBody>
      </p:sp>
      <p:sp>
        <p:nvSpPr>
          <p:cNvPr id="17" name="TextBox 16"/>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8" name="TextBox 17"/>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EE"/>
        </a:solidFill>
        <a:effectLst/>
      </p:bgPr>
    </p:bg>
    <p:spTree>
      <p:nvGrpSpPr>
        <p:cNvPr id="1" name=""/>
        <p:cNvGrpSpPr/>
        <p:nvPr/>
      </p:nvGrpSpPr>
      <p:grpSpPr/>
      <p:sp>
        <p:nvSpPr>
          <p:cNvPr id="2" name="TextBox 1"/>
          <p:cNvSpPr txBox="1"/>
          <p:nvPr/>
        </p:nvSpPr>
        <p:spPr>
          <a:xfrm>
            <a:off x="777240" y="457200"/>
            <a:ext cx="12801600" cy="365760"/>
          </a:xfrm>
          <a:prstGeom prst="rect">
            <a:avLst/>
          </a:prstGeom>
          <a:noFill/>
        </p:spPr>
        <p:txBody>
          <a:bodyPr wrap="square" lIns="0" rIns="0">
            <a:spAutoFit/>
          </a:bodyPr>
          <a:lstStyle/>
          <a:p>
            <a:pPr>
              <a:spcAft>
                <a:spcPts val="900"/>
              </a:spcAft>
              <a:defRPr sz="1100" b="1">
                <a:solidFill>
                  <a:srgbClr val="9ABB68"/>
                </a:solidFill>
                <a:latin typeface="Aptos"/>
              </a:defRPr>
            </a:pPr>
            <a:r>
              <a:t>NEXT STEP</a:t>
            </a:r>
          </a:p>
        </p:txBody>
      </p:sp>
      <p:sp>
        <p:nvSpPr>
          <p:cNvPr id="3" name="TextBox 2"/>
          <p:cNvSpPr txBox="1"/>
          <p:nvPr/>
        </p:nvSpPr>
        <p:spPr>
          <a:xfrm>
            <a:off x="777240" y="1024128"/>
            <a:ext cx="13075920" cy="1143000"/>
          </a:xfrm>
          <a:prstGeom prst="rect">
            <a:avLst/>
          </a:prstGeom>
          <a:noFill/>
        </p:spPr>
        <p:txBody>
          <a:bodyPr wrap="square" lIns="0" rIns="0">
            <a:spAutoFit/>
          </a:bodyPr>
          <a:lstStyle/>
          <a:p>
            <a:pPr>
              <a:spcAft>
                <a:spcPts val="900"/>
              </a:spcAft>
              <a:defRPr sz="5400" b="1">
                <a:solidFill>
                  <a:srgbClr val="1E3022"/>
                </a:solidFill>
                <a:latin typeface="Aptos"/>
              </a:defRPr>
            </a:pPr>
            <a:r>
              <a:t>Inspect a decision. Watch a recovery.</a:t>
            </a:r>
          </a:p>
        </p:txBody>
      </p:sp>
      <p:sp>
        <p:nvSpPr>
          <p:cNvPr id="4" name="TextBox 3"/>
          <p:cNvSpPr txBox="1"/>
          <p:nvPr/>
        </p:nvSpPr>
        <p:spPr>
          <a:xfrm>
            <a:off x="777240" y="2331720"/>
            <a:ext cx="12984480" cy="822960"/>
          </a:xfrm>
          <a:prstGeom prst="rect">
            <a:avLst/>
          </a:prstGeom>
          <a:noFill/>
        </p:spPr>
        <p:txBody>
          <a:bodyPr wrap="square" lIns="0" rIns="0">
            <a:spAutoFit/>
          </a:bodyPr>
          <a:lstStyle/>
          <a:p>
            <a:pPr>
              <a:spcAft>
                <a:spcPts val="900"/>
              </a:spcAft>
              <a:defRPr sz="1800" b="0">
                <a:solidFill>
                  <a:srgbClr val="728069"/>
                </a:solidFill>
                <a:latin typeface="Aptos"/>
              </a:defRPr>
            </a:pPr>
            <a:r>
              <a:t>Use the dashboard as the product demonstration, and the proof as the review artifact.</a:t>
            </a:r>
          </a:p>
        </p:txBody>
      </p:sp>
      <p:sp>
        <p:nvSpPr>
          <p:cNvPr id="5" name="Rounded Rectangle 4"/>
          <p:cNvSpPr/>
          <p:nvPr/>
        </p:nvSpPr>
        <p:spPr>
          <a:xfrm>
            <a:off x="777240" y="3291840"/>
            <a:ext cx="4206240" cy="2514600"/>
          </a:xfrm>
          <a:prstGeom prst="roundRect">
            <a:avLst/>
          </a:prstGeom>
          <a:solidFill>
            <a:srgbClr val="D8E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01</a:t>
            </a:r>
          </a:p>
        </p:txBody>
      </p:sp>
      <p:sp>
        <p:nvSpPr>
          <p:cNvPr id="7" name="TextBox 6"/>
          <p:cNvSpPr txBox="1"/>
          <p:nvPr/>
        </p:nvSpPr>
        <p:spPr>
          <a:xfrm>
            <a:off x="96012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1. Open Overview and the consumed-input proof.</a:t>
            </a:r>
          </a:p>
        </p:txBody>
      </p:sp>
      <p:sp>
        <p:nvSpPr>
          <p:cNvPr id="8" name="Rounded Rectangle 7"/>
          <p:cNvSpPr/>
          <p:nvPr/>
        </p:nvSpPr>
        <p:spPr>
          <a:xfrm>
            <a:off x="5212080" y="3291840"/>
            <a:ext cx="4206240" cy="2514600"/>
          </a:xfrm>
          <a:prstGeom prst="roundRect">
            <a:avLst/>
          </a:prstGeom>
          <a:solidFill>
            <a:srgbClr val="D8E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02</a:t>
            </a:r>
          </a:p>
        </p:txBody>
      </p:sp>
      <p:sp>
        <p:nvSpPr>
          <p:cNvPr id="10" name="TextBox 9"/>
          <p:cNvSpPr txBox="1"/>
          <p:nvPr/>
        </p:nvSpPr>
        <p:spPr>
          <a:xfrm>
            <a:off x="539496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2. Move a risk or cap slider in the Policy lab.</a:t>
            </a:r>
          </a:p>
        </p:txBody>
      </p:sp>
      <p:sp>
        <p:nvSpPr>
          <p:cNvPr id="11" name="Rounded Rectangle 10"/>
          <p:cNvSpPr/>
          <p:nvPr/>
        </p:nvSpPr>
        <p:spPr>
          <a:xfrm>
            <a:off x="9646920" y="3291840"/>
            <a:ext cx="4206240" cy="2514600"/>
          </a:xfrm>
          <a:prstGeom prst="roundRect">
            <a:avLst/>
          </a:prstGeom>
          <a:solidFill>
            <a:srgbClr val="D8E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3493008"/>
            <a:ext cx="3840480" cy="365760"/>
          </a:xfrm>
          <a:prstGeom prst="rect">
            <a:avLst/>
          </a:prstGeom>
          <a:noFill/>
        </p:spPr>
        <p:txBody>
          <a:bodyPr wrap="square" lIns="0" rIns="0">
            <a:spAutoFit/>
          </a:bodyPr>
          <a:lstStyle/>
          <a:p>
            <a:pPr>
              <a:spcAft>
                <a:spcPts val="900"/>
              </a:spcAft>
              <a:defRPr sz="1100" b="0">
                <a:solidFill>
                  <a:srgbClr val="9ABB68"/>
                </a:solidFill>
                <a:latin typeface="Aptos"/>
              </a:defRPr>
            </a:pPr>
            <a:r>
              <a:t>03</a:t>
            </a:r>
          </a:p>
        </p:txBody>
      </p:sp>
      <p:sp>
        <p:nvSpPr>
          <p:cNvPr id="13" name="TextBox 12"/>
          <p:cNvSpPr txBox="1"/>
          <p:nvPr/>
        </p:nvSpPr>
        <p:spPr>
          <a:xfrm>
            <a:off x="9829800" y="3886200"/>
            <a:ext cx="3840480" cy="1737360"/>
          </a:xfrm>
          <a:prstGeom prst="rect">
            <a:avLst/>
          </a:prstGeom>
          <a:noFill/>
        </p:spPr>
        <p:txBody>
          <a:bodyPr wrap="square" lIns="0" rIns="0">
            <a:spAutoFit/>
          </a:bodyPr>
          <a:lstStyle/>
          <a:p>
            <a:pPr>
              <a:spcAft>
                <a:spcPts val="900"/>
              </a:spcAft>
              <a:defRPr sz="1800" b="0">
                <a:solidFill>
                  <a:srgbClr val="1E3022"/>
                </a:solidFill>
                <a:latin typeface="Aptos"/>
              </a:defRPr>
            </a:pPr>
            <a:r>
              <a:t>3. Show Fleet status, then the recorded resilience experiments.</a:t>
            </a:r>
          </a:p>
        </p:txBody>
      </p:sp>
      <p:sp>
        <p:nvSpPr>
          <p:cNvPr id="14" name="TextBox 13"/>
          <p:cNvSpPr txBox="1"/>
          <p:nvPr/>
        </p:nvSpPr>
        <p:spPr>
          <a:xfrm>
            <a:off x="777240" y="6858000"/>
            <a:ext cx="4023360" cy="457200"/>
          </a:xfrm>
          <a:prstGeom prst="rect">
            <a:avLst/>
          </a:prstGeom>
          <a:noFill/>
        </p:spPr>
        <p:txBody>
          <a:bodyPr wrap="square" lIns="0" rIns="0">
            <a:spAutoFit/>
          </a:bodyPr>
          <a:lstStyle/>
          <a:p>
            <a:pPr>
              <a:spcAft>
                <a:spcPts val="900"/>
              </a:spcAft>
              <a:defRPr sz="1200" b="0">
                <a:solidFill>
                  <a:srgbClr val="1E3022"/>
                </a:solidFill>
                <a:latin typeface="Aptos"/>
              </a:defRPr>
            </a:pPr>
            <a:r>
              <a:rPr>
                <a:hlinkClick r:id="rId2"/>
              </a:rPr>
              <a:t>Open live demo ↗</a:t>
            </a:r>
          </a:p>
        </p:txBody>
      </p:sp>
      <p:sp>
        <p:nvSpPr>
          <p:cNvPr id="15" name="TextBox 14"/>
          <p:cNvSpPr txBox="1"/>
          <p:nvPr/>
        </p:nvSpPr>
        <p:spPr>
          <a:xfrm>
            <a:off x="5074920" y="6858000"/>
            <a:ext cx="4023360" cy="457200"/>
          </a:xfrm>
          <a:prstGeom prst="rect">
            <a:avLst/>
          </a:prstGeom>
          <a:noFill/>
        </p:spPr>
        <p:txBody>
          <a:bodyPr wrap="square" lIns="0" rIns="0">
            <a:spAutoFit/>
          </a:bodyPr>
          <a:lstStyle/>
          <a:p>
            <a:pPr>
              <a:spcAft>
                <a:spcPts val="900"/>
              </a:spcAft>
              <a:defRPr sz="1200" b="0">
                <a:solidFill>
                  <a:srgbClr val="1E3022"/>
                </a:solidFill>
                <a:latin typeface="Aptos"/>
              </a:defRPr>
            </a:pPr>
            <a:r>
              <a:rPr>
                <a:hlinkClick r:id="rId3"/>
              </a:rPr>
              <a:t>Program upgrade transaction ↗</a:t>
            </a:r>
          </a:p>
        </p:txBody>
      </p:sp>
      <p:sp>
        <p:nvSpPr>
          <p:cNvPr id="16" name="TextBox 15"/>
          <p:cNvSpPr txBox="1"/>
          <p:nvPr/>
        </p:nvSpPr>
        <p:spPr>
          <a:xfrm>
            <a:off x="777240" y="7726679"/>
            <a:ext cx="11887200" cy="274320"/>
          </a:xfrm>
          <a:prstGeom prst="rect">
            <a:avLst/>
          </a:prstGeom>
          <a:noFill/>
        </p:spPr>
        <p:txBody>
          <a:bodyPr wrap="square" lIns="0" rIns="0">
            <a:spAutoFit/>
          </a:bodyPr>
          <a:lstStyle/>
          <a:p>
            <a:pPr>
              <a:spcAft>
                <a:spcPts val="900"/>
              </a:spcAft>
              <a:defRPr sz="900" b="0">
                <a:solidFill>
                  <a:srgbClr val="728069"/>
                </a:solidFill>
                <a:latin typeface="Aptos"/>
              </a:defRPr>
            </a:pPr>
            <a:r>
              <a:t>QUORUM · USDC / DEVNET · CAPTURED 2026-10-11</a:t>
            </a:r>
          </a:p>
        </p:txBody>
      </p:sp>
      <p:sp>
        <p:nvSpPr>
          <p:cNvPr id="17" name="TextBox 16"/>
          <p:cNvSpPr txBox="1"/>
          <p:nvPr/>
        </p:nvSpPr>
        <p:spPr>
          <a:xfrm>
            <a:off x="12801600" y="7726679"/>
            <a:ext cx="914400" cy="274320"/>
          </a:xfrm>
          <a:prstGeom prst="rect">
            <a:avLst/>
          </a:prstGeom>
          <a:noFill/>
        </p:spPr>
        <p:txBody>
          <a:bodyPr wrap="square" lIns="0" rIns="0">
            <a:spAutoFit/>
          </a:bodyPr>
          <a:lstStyle/>
          <a:p>
            <a:pPr>
              <a:spcAft>
                <a:spcPts val="900"/>
              </a:spcAft>
              <a:defRPr sz="900" b="0">
                <a:solidFill>
                  <a:srgbClr val="728069"/>
                </a:solidFill>
                <a:latin typeface="Aptos"/>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