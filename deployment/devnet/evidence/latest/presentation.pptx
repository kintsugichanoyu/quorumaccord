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Marginfi</c:v>
                </c:pt>
              </c:strCache>
            </c:strRef>
          </c:tx>
          <c:spPr>
            <a:ln w="25400">
              <a:solidFill>
                <a:srgbClr val="6DE8BF"/>
              </a:solidFill>
            </a:ln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12:27:32</c:v>
                </c:pt>
                <c:pt idx="1">
                  <c:v>12:27:48</c:v>
                </c:pt>
                <c:pt idx="2">
                  <c:v>12:28:03</c:v>
                </c:pt>
                <c:pt idx="3">
                  <c:v>12:28:18</c:v>
                </c:pt>
                <c:pt idx="4">
                  <c:v>12:28:40</c:v>
                </c:pt>
                <c:pt idx="5">
                  <c:v>12:28:55</c:v>
                </c:pt>
                <c:pt idx="6">
                  <c:v>12:29:11</c:v>
                </c:pt>
                <c:pt idx="7">
                  <c:v>12:29:29</c:v>
                </c:pt>
                <c:pt idx="8">
                  <c:v>12:29:44</c:v>
                </c:pt>
                <c:pt idx="9">
                  <c:v>12:29:59</c:v>
                </c:pt>
                <c:pt idx="10">
                  <c:v>12:30:14</c:v>
                </c:pt>
                <c:pt idx="11">
                  <c:v>12:30:39</c:v>
                </c:pt>
                <c:pt idx="12">
                  <c:v>12:30:55</c:v>
                </c:pt>
                <c:pt idx="13">
                  <c:v>12:31:10</c:v>
                </c:pt>
                <c:pt idx="14">
                  <c:v>12:31:29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50.0</c:v>
                </c:pt>
                <c:pt idx="1">
                  <c:v>50.0</c:v>
                </c:pt>
                <c:pt idx="2">
                  <c:v>50.0</c:v>
                </c:pt>
                <c:pt idx="3">
                  <c:v>50.0</c:v>
                </c:pt>
                <c:pt idx="4">
                  <c:v>50.0</c:v>
                </c:pt>
                <c:pt idx="5">
                  <c:v>50.0</c:v>
                </c:pt>
                <c:pt idx="6">
                  <c:v>50.0</c:v>
                </c:pt>
                <c:pt idx="7">
                  <c:v>50.0</c:v>
                </c:pt>
                <c:pt idx="8">
                  <c:v>50.0</c:v>
                </c:pt>
                <c:pt idx="9">
                  <c:v>50.0</c:v>
                </c:pt>
                <c:pt idx="10">
                  <c:v>50.0</c:v>
                </c:pt>
                <c:pt idx="11">
                  <c:v>50.0</c:v>
                </c:pt>
                <c:pt idx="12">
                  <c:v>50.0</c:v>
                </c:pt>
                <c:pt idx="13">
                  <c:v>50.0</c:v>
                </c:pt>
                <c:pt idx="14">
                  <c:v>50.0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Save</c:v>
                </c:pt>
              </c:strCache>
            </c:strRef>
          </c:tx>
          <c:spPr>
            <a:ln w="25400">
              <a:solidFill>
                <a:srgbClr val="F2C779"/>
              </a:solidFill>
            </a:ln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12:27:32</c:v>
                </c:pt>
                <c:pt idx="1">
                  <c:v>12:27:48</c:v>
                </c:pt>
                <c:pt idx="2">
                  <c:v>12:28:03</c:v>
                </c:pt>
                <c:pt idx="3">
                  <c:v>12:28:18</c:v>
                </c:pt>
                <c:pt idx="4">
                  <c:v>12:28:40</c:v>
                </c:pt>
                <c:pt idx="5">
                  <c:v>12:28:55</c:v>
                </c:pt>
                <c:pt idx="6">
                  <c:v>12:29:11</c:v>
                </c:pt>
                <c:pt idx="7">
                  <c:v>12:29:29</c:v>
                </c:pt>
                <c:pt idx="8">
                  <c:v>12:29:44</c:v>
                </c:pt>
                <c:pt idx="9">
                  <c:v>12:29:59</c:v>
                </c:pt>
                <c:pt idx="10">
                  <c:v>12:30:14</c:v>
                </c:pt>
                <c:pt idx="11">
                  <c:v>12:30:39</c:v>
                </c:pt>
                <c:pt idx="12">
                  <c:v>12:30:55</c:v>
                </c:pt>
                <c:pt idx="13">
                  <c:v>12:31:10</c:v>
                </c:pt>
                <c:pt idx="14">
                  <c:v>12:31:29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14.74</c:v>
                </c:pt>
                <c:pt idx="1">
                  <c:v>14.74</c:v>
                </c:pt>
                <c:pt idx="2">
                  <c:v>14.74</c:v>
                </c:pt>
                <c:pt idx="3">
                  <c:v>14.74</c:v>
                </c:pt>
                <c:pt idx="4">
                  <c:v>14.74</c:v>
                </c:pt>
                <c:pt idx="5">
                  <c:v>14.74</c:v>
                </c:pt>
                <c:pt idx="6">
                  <c:v>14.74</c:v>
                </c:pt>
                <c:pt idx="7">
                  <c:v>14.74</c:v>
                </c:pt>
                <c:pt idx="8">
                  <c:v>14.74</c:v>
                </c:pt>
                <c:pt idx="9">
                  <c:v>14.74</c:v>
                </c:pt>
                <c:pt idx="10">
                  <c:v>14.74</c:v>
                </c:pt>
                <c:pt idx="11">
                  <c:v>14.74</c:v>
                </c:pt>
                <c:pt idx="12">
                  <c:v>14.7</c:v>
                </c:pt>
                <c:pt idx="13">
                  <c:v>14.7</c:v>
                </c:pt>
                <c:pt idx="14">
                  <c:v>14.7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Kamino</c:v>
                </c:pt>
              </c:strCache>
            </c:strRef>
          </c:tx>
          <c:spPr>
            <a:ln w="25400">
              <a:solidFill>
                <a:srgbClr val="8DB6FF"/>
              </a:solidFill>
            </a:ln>
          </c:spPr>
          <c:marker>
            <c:symbol val="none"/>
          </c:marker>
          <c:cat>
            <c:strRef>
              <c:f>Sheet1!$A$2:$A$16</c:f>
              <c:strCache>
                <c:ptCount val="15"/>
                <c:pt idx="0">
                  <c:v>12:27:32</c:v>
                </c:pt>
                <c:pt idx="1">
                  <c:v>12:27:48</c:v>
                </c:pt>
                <c:pt idx="2">
                  <c:v>12:28:03</c:v>
                </c:pt>
                <c:pt idx="3">
                  <c:v>12:28:18</c:v>
                </c:pt>
                <c:pt idx="4">
                  <c:v>12:28:40</c:v>
                </c:pt>
                <c:pt idx="5">
                  <c:v>12:28:55</c:v>
                </c:pt>
                <c:pt idx="6">
                  <c:v>12:29:11</c:v>
                </c:pt>
                <c:pt idx="7">
                  <c:v>12:29:29</c:v>
                </c:pt>
                <c:pt idx="8">
                  <c:v>12:29:44</c:v>
                </c:pt>
                <c:pt idx="9">
                  <c:v>12:29:59</c:v>
                </c:pt>
                <c:pt idx="10">
                  <c:v>12:30:14</c:v>
                </c:pt>
                <c:pt idx="11">
                  <c:v>12:30:39</c:v>
                </c:pt>
                <c:pt idx="12">
                  <c:v>12:30:55</c:v>
                </c:pt>
                <c:pt idx="13">
                  <c:v>12:31:10</c:v>
                </c:pt>
                <c:pt idx="14">
                  <c:v>12:31:29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35.26</c:v>
                </c:pt>
                <c:pt idx="1">
                  <c:v>35.26</c:v>
                </c:pt>
                <c:pt idx="2">
                  <c:v>35.26</c:v>
                </c:pt>
                <c:pt idx="3">
                  <c:v>35.26</c:v>
                </c:pt>
                <c:pt idx="4">
                  <c:v>35.26</c:v>
                </c:pt>
                <c:pt idx="5">
                  <c:v>35.26</c:v>
                </c:pt>
                <c:pt idx="6">
                  <c:v>35.26</c:v>
                </c:pt>
                <c:pt idx="7">
                  <c:v>35.26</c:v>
                </c:pt>
                <c:pt idx="8">
                  <c:v>35.26</c:v>
                </c:pt>
                <c:pt idx="9">
                  <c:v>35.26</c:v>
                </c:pt>
                <c:pt idx="10">
                  <c:v>35.26</c:v>
                </c:pt>
                <c:pt idx="11">
                  <c:v>35.26</c:v>
                </c:pt>
                <c:pt idx="12">
                  <c:v>35.3</c:v>
                </c:pt>
                <c:pt idx="13">
                  <c:v>35.3</c:v>
                </c:pt>
                <c:pt idx="14">
                  <c:v>35.3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91ABB4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91ABB4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EAF6F5"/>
              </a:solidFill>
            </a:defRPr>
          </a:pPr>
        </a:p>
      </c:txPr>
    </c:legend>
    <c:plotVisOnly val="1"/>
    <c:dispBlanksAs val="gap"/>
    <c:showDLblsOverMax val="0"/>
  </c:chart>
  <c:spPr>
    <a:solidFill>
      <a:srgbClr val="07121C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displayed transaction was fetched from real devnet RPC.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Implements specs/SPECIFICATION.md: producer → series consensus → ring buffer → consumer → allocation consensus → AllocationState.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upgrade transaction is new. Existing account bootstrap is reused, not represented as a new transaction.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Keys are generated once in ignored .state/keys with restrictive permissions. Funding uses the existing devnet wallet.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Membership is checked on submission. The consumer uses the registry admin because only admin can open allocation rounds.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Read-only mainnet RPC; the sources are real protocol accounts. Publication is a devnet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generic on-chain instruction set serves every venue; named SDK decoders run off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consumer hosts a pacing proxy forwarding real devnet RPC; each producer reads mainnet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finalized account has count 3, quorum 3 and status 2. It is archived before rent reclamation.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thirteen unused venue positions remain zero. Source measurements and configured risk/cap policy are distinguished.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fleet consumer handles repeated rounds, duplicate avoidance and persisted lifecycle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AllocationState: round at offset 8, updated_slot at 16, sixteen little-endian u16 weights at 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Sample rent returns only to the original payer; allocation rent returns only to the registry admin. Layouts and PDA seeds are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fleet remains running with restart-unless-stopped. Reclaimed rent prevents repeated consensus account creation from consuming the starting balances.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Artifacts contain public keys and on-chain bytes only. Secrets remain in ignored state directories.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explorer.solana.com/tx/3AZWKwDDCbDURRiQcSPCch2kfW3qkHDpxWPWDtrYkKN2djkWmJoECymiwh7ofgKuU9Me3hFDQWdnJ7ER6BaSmvC6?cluster=devne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explorer.solana.com/tx/5j8VkZ14dKg8xZEVpQ7Q4smW4na9RBQ9nnNqQcmkHZEfD32CYkLSCNLP4eXi1TbVjneXAz6vL7R123BezBb2zh1k?cluster=devnet" TargetMode="External"/><Relationship Id="rId4" Type="http://schemas.openxmlformats.org/officeDocument/2006/relationships/hyperlink" Target="https://explorer.solana.com/tx/4X6sdupzCYrPJiaYoeNygmR4XRi4uUD9B9RRj32xGqChWhw6yJ8qcWbuDZEkAd4rRSin5ZdsYXLcLtguGNj9HTZb?cluster=devnet" TargetMode="External"/><Relationship Id="rId5" Type="http://schemas.openxmlformats.org/officeDocument/2006/relationships/hyperlink" Target="https://explorer.solana.com/tx/3RBGftDnSdPuxGo2anPhkUf4eRKd9CHnK4CWafHJ7aEJzjmoKu7AdnDXRmqSwhVkpsrcyjteEJz4F51EuyuywDNn?cluster=devnet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xplorer.solana.com/tx/4hCsf2LwFGxLLJieBMaSGihPDo911p5XAfHMeapPCLAfASC4XcUuvGkjRaXJnTG5fd4FuVVKmmjCLoWpRTXGCJpH?cluster=devnet" TargetMode="External"/><Relationship Id="rId4" Type="http://schemas.openxmlformats.org/officeDocument/2006/relationships/hyperlink" Target="https://explorer.solana.com/tx/3pZYk6HQwuK5iU5hpghHdUJS29FaZtRYakkWFpLwVmsLahPrV3p4pBUP1Kdk5JQkyuXwf3Xmrncx4fpZ5rQiT7TD?cluster=devnet" TargetMode="External"/><Relationship Id="rId5" Type="http://schemas.openxmlformats.org/officeDocument/2006/relationships/hyperlink" Target="https://explorer.solana.com/tx/4DavqzKvEJY4uUyq2LPSnxhXynoKLcw2CYohiLmiQkjq2R45juxTjsVf5kUb6znLVrjNJ5uZnrY7EokkTGHccJQD?cluster=devnet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explorer.solana.com/tx/65E676L5jVENaim1vzuP9tRAuhLs6CMqkaBEBghkVDpbDPj9tBu5Eo9ruh8aLG2xSm5mqZ1g5KaTNxWc3Wdhu3LK?cluster=devnet" TargetMode="External"/><Relationship Id="rId4" Type="http://schemas.openxmlformats.org/officeDocument/2006/relationships/hyperlink" Target="https://explorer.solana.com/tx/44vbrYhDYpqPPX6vGLZ89pMhjZQ4G5Qkk7SomgYBgwC63zPXnAku96gKD52Rta7GwE5GtwcCNjhMz6QooWyg9Bp7?cluster=devnet" TargetMode="External"/><Relationship Id="rId5" Type="http://schemas.openxmlformats.org/officeDocument/2006/relationships/hyperlink" Target="https://explorer.solana.com/tx/2YMqA3rargAYgsaukvWkqgyscGuwpQstCKDMy19w2XWhA8ComzcWiEbtPY9meyu5bUMPjsMbafYA2x8YeDcCcYvd?cluster=devnet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explorer.solana.com/tx/3SEM2FxmhLJs9SCzcTG6TWZmYbJoLbfqMwVqJahmGN626oZf98SMVvigE2mqJ4EgtX42nxBW6bWoJsfydy2qzTuJ?cluster=devnet" TargetMode="External"/><Relationship Id="rId4" Type="http://schemas.openxmlformats.org/officeDocument/2006/relationships/hyperlink" Target="https://explorer.solana.com/tx/5Hgiq3Jfp75s1T5r7yAbp1EcbULiwmG9BP4ac12rJ6MMNfYADrRDpYEUkS7rkkbZfVHvN9yzHhqvha3v6wQt3JbQ?cluster=devnet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explorer.solana.com/tx/3akvoLNC4LQT1Y8m9ToodbZG4geTfC5ajVmh8YkBBixAdowTced8rtzSQhUGB4KvJCwHBNAqGJQ2HHs7cDvwzfN2?cluster=devnet" TargetMode="External"/><Relationship Id="rId4" Type="http://schemas.openxmlformats.org/officeDocument/2006/relationships/hyperlink" Target="https://explorer.solana.com/tx/QcaAPddUsXN4gasqjZwPAPJAtdeHcp7ZhS1Ns3BxXwxBRnuGK7h87VgDxDEccHas2iiwacRduyZ7hTpUGLRNUnW?cluster=devnet" TargetMode="External"/><Relationship Id="rId5" Type="http://schemas.openxmlformats.org/officeDocument/2006/relationships/hyperlink" Target="https://explorer.solana.com/tx/3z8zSz2AS2dmdNQEB9GTvy1ozBKyZ8aJP6dZ1TKaty1keHHfhaFUGeEDkiAqTpNZa67EWqrAHKpaLwoFg8G7Si6x?cluster=devnet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explorer.solana.com/tx/5ForkM8WXant49sVojYktsKdpq6aTPYv1pdq8hi3gdRYhwKNhNHMQqHexoqKwRW5bAmt2vSeQRfr5dJbL32xgoFv?cluster=devnet" TargetMode="External"/><Relationship Id="rId4" Type="http://schemas.openxmlformats.org/officeDocument/2006/relationships/hyperlink" Target="https://explorer.solana.com/tx/4qYbFU8d6GNzUDSFBY43biN5id5Zpe8q1k9nTEqACPj9HtTVMSoS2GoKD9qGjMc5sGm5Y6oNuXJtLemTeHmvLHVc?cluster=devnet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6DE8BF"/>
                </a:solidFill>
                <a:latin typeface="Aptos"/>
              </a:defRPr>
            </a:pPr>
            <a:r>
              <a:t>QUORUM · DEVNET FIELD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800">
                <a:solidFill>
                  <a:srgbClr val="EAF6F5"/>
                </a:solidFill>
                <a:latin typeface="Aptos"/>
              </a:defRPr>
            </a:pPr>
            <a:r>
              <a:t>Three oracles. One allocation.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3075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Live USDC supply APY from Marginfi, Save and Kamino, published by three independent signing processes.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3 / 3sample quorum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4observed allocations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203fetched transactions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4running containers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2026-10-10T12:27:31.708Z → 2026-10-10T12:36:41.151Z · mainnet reads / devnet writes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>
                <a:solidFill>
                  <a:srgbClr val="91ABB4"/>
                </a:solidFill>
                <a:latin typeface="Aptos"/>
              </a:defRPr>
            </a:pPr>
            <a:r>
              <a:t>QUORUM · DEVNET EVIDENCE · 2026-10-10                         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6DE8BF"/>
                </a:solidFill>
                <a:latin typeface="Aptos"/>
              </a:defRPr>
            </a:pPr>
            <a:r>
              <a:t>01 ·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800">
                <a:solidFill>
                  <a:srgbClr val="EAF6F5"/>
                </a:solidFill>
                <a:latin typeface="Aptos"/>
              </a:defRPr>
            </a:pPr>
            <a:r>
              <a:t>From protocol state to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3075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MAINNET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USDC × 3 venues→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ORACLES 1 / 2 / 3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separate wallets→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DEVNET FEEDS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median · quorum 3→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CONSUMER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integer rubric→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ALLOCATION STATE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10000 bps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All three oracles independently read all three protocols. Each signs one vote per venue and devnet slot window. The consumer reads finalized feed heads from chain.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240-slot sample windows. One consumer ⇒ allocation quorum 1. Agreement is proven; source independence and consumer decentralization are outside this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>
                <a:solidFill>
                  <a:srgbClr val="91ABB4"/>
                </a:solidFill>
                <a:latin typeface="Aptos"/>
              </a:defRPr>
            </a:pPr>
            <a:r>
              <a:t>QUORUM · DEVNET EVIDENCE · 2026-10-10                         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6DE8BF"/>
                </a:solidFill>
                <a:latin typeface="Aptos"/>
              </a:defRPr>
            </a:pPr>
            <a:r>
              <a:t>02 · DEPLOY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800">
                <a:solidFill>
                  <a:srgbClr val="EAF6F5"/>
                </a:solidFill>
                <a:latin typeface="Aptos"/>
              </a:defRPr>
            </a:pPr>
            <a:r>
              <a:t>Deploy and verify the main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3075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DZGzK8wkxRWyhEorA8SSfPbUvHRAwog8vSsKeLEx4Coz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The existing devnet program was upgraded. Deployed bytecode was compared with the local SBF build, and upgrade authority was checked against the funding wallet.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rPr>
                <a:hlinkClick r:id="rId3"/>
              </a:rPr>
              <a:t>slot 509534320 deploy / upgrade main program3AZWKwDDCbDURRiQcSPCch2kfW3qkHDpxWPWDtrYkKN2djkWmJoECymiwh7ofgKuU9Me3hFDQWdnJ7ER6BaSmvC6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[{"program":"BPFLoaderUpgradeab1e11111111111111111111111","accounts":["GeX9mtULBVsiDgtYwPcXL7WjMtFV9ZCEjuwYjhdrwuFN","DZGzK8wkxRWyhEorA8SSfPbUvHRAwog8vSsKeLEx4Coz","E5tKyJtozayh8QFRyVL3PHRgv3QnsCZo3ta4Lb86zt3m","2rH2YbtCjFxNV4JL6JC1AQixxxviBEmMk8aBYBABoukc","SysvarRent111111111111111111111111111111111","SysvarC1ock11111111111111111111111111111111","2rH2YbtCjFxNV4JL6JC1AQixxxviBEmMk8aBYBABoukc"],"name":"upgradeable_loader","data":{"variant":3}}]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The registry and AllocationState already existed and were reused after identity and authority checks.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>
                <a:solidFill>
                  <a:srgbClr val="91ABB4"/>
                </a:solidFill>
                <a:latin typeface="Aptos"/>
              </a:defRPr>
            </a:pPr>
            <a:r>
              <a:t>QUORUM · DEVNET EVIDENCE · 2026-10-10                         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6DE8BF"/>
                </a:solidFill>
                <a:latin typeface="Aptos"/>
              </a:defRPr>
            </a:pPr>
            <a:r>
              <a:t>03 · WALLETS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800">
                <a:solidFill>
                  <a:srgbClr val="EAF6F5"/>
                </a:solidFill>
                <a:latin typeface="Aptos"/>
              </a:defRPr>
            </a:pPr>
            <a:r>
              <a:t>One funding wallet → three producers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3075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Role  |  Public key  |  Funding  |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oracle-1  |  6mTM9YQcxGdkPmAzGCF25vCkdCpJqbjEYHxChvHfeTwH  |  0.25 devnet SOL  |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oracle-2  |  7tx3XxRt1u1bfsiwrjpaJ59hbr483Fvw1YiRmvs7ohZf  |  0.25 devnet SOL  |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oracle-3  |  FLj3KsBGXCh9uM7PY3ttKz13MpLvrj98i2qWY8daaa6L  |  0.25 devnet SOL  |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Funding wallet: 2rH2YbtCjFxNV4JL6JC1AQixxxviBEmMk8aBYBABoukc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rPr>
                <a:hlinkClick r:id="rId3"/>
              </a:rPr>
              <a:t>slot 509535891 fund oracle-1 from existing devnet wallet5j8VkZ14dKg8xZEVpQ7Q4smW4na9RBQ9nnNqQcmkHZEfD32CYkLSCNLP4eXi1TbVjneXAz6vL7R123BezBb2zh1k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[{"program":"11111111111111111111111111111111","accounts":["2rH2YbtCjFxNV4JL6JC1AQixxxviBEmMk8aBYBABoukc","6mTM9YQcxGdkPmAzGCF25vCkdCpJqbjEYHxChvHfeTwH"],"name":"system_transfer","data":{"lamports":"250000000"}}]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rPr>
                <a:hlinkClick r:id="rId4"/>
              </a:rPr>
              <a:t>slot 509535900 fund oracle-2 from existing devnet wallet4X6sdupzCYrPJiaYoeNygmR4XRi4uUD9B9RRj32xGqChWhw6yJ8qcWbuDZEkAd4rRSin5ZdsYXLcLtguGNj9HTZb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[{"program":"11111111111111111111111111111111","accounts":["2rH2YbtCjFxNV4JL6JC1AQixxxviBEmMk8aBYBABoukc","7tx3XxRt1u1bfsiwrjpaJ59hbr483Fvw1YiRmvs7ohZf"],"name":"system_transfer","data":{"lamports":"250000000"}}]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rPr>
                <a:hlinkClick r:id="rId5"/>
              </a:rPr>
              <a:t>slot 509535911 fund oracle-3 from existing devnet wallet3RBGftDnSdPuxGo2anPhkUf4eRKd9CHnK4CWafHJ7aEJzjmoKu7AdnDXRmqSwhVkpsrcyjteEJz4F51EuyuywDNn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[{"program":"11111111111111111111111111111111","accounts":["2rH2YbtCjFxNV4JL6JC1AQixxxviBEmMk8aBYBABoukc","FLj3KsBGXCh9uM7PY3ttKz13MpLvrj98i2qWY8daaa6L"],"name":"system_transfer","data":{"lamports":"250000000"}}]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>
                <a:solidFill>
                  <a:srgbClr val="91ABB4"/>
                </a:solidFill>
                <a:latin typeface="Aptos"/>
              </a:defRPr>
            </a:pPr>
            <a:r>
              <a:t>QUORUM · DEVNET EVIDENCE · 2026-10-10                         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6DE8BF"/>
                </a:solidFill>
                <a:latin typeface="Aptos"/>
              </a:defRPr>
            </a:pPr>
            <a:r>
              <a:t>04 · MEMBERSHIP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800">
                <a:solidFill>
                  <a:srgbClr val="EAF6F5"/>
                </a:solidFill>
                <a:latin typeface="Aptos"/>
              </a:defRPr>
            </a:pPr>
            <a:r>
              <a:t>Register every signing producer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3075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The admin registered the three new oracle keys. The devnet admin also signs the single consumer.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rPr>
                <a:hlinkClick r:id="rId3"/>
              </a:rPr>
              <a:t>slot 509535922 register 6mTM9YQcxGdkPmAzGCF25vCkdCpJqbjEYHxChvHfeTwH4hCsf2LwFGxLLJieBMaSGihPDo911p5XAfHMeapPCLAfASC4XcUuvGkjRaXJnTG5fd4FuVVKmmjCLoWpRTXGCJpH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[{"program":"DZGzK8wkxRWyhEorA8SSfPbUvHRAwog8vSsKeLEx4Coz","accounts":["8gqgUdLzwjcJViRZCc3u2SFBQxbmb2HdGaQZHw82wiqG","2rH2YbtCjFxNV4JL6JC1AQixxxviBEmMk8aBYBABoukc"],"name":"add_operator","data":{"operator":"6mTM9YQcxGdkPmAzGCF25vCkdCpJqbjEYHxChvHfeTwH"}}]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rPr>
                <a:hlinkClick r:id="rId4"/>
              </a:rPr>
              <a:t>slot 509535932 register 7tx3XxRt1u1bfsiwrjpaJ59hbr483Fvw1YiRmvs7ohZf3pZYk6HQwuK5iU5hpghHdUJS29FaZtRYakkWFpLwVmsLahPrV3p4pBUP1Kdk5JQkyuXwf3Xmrncx4fpZ5rQiT7TD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[{"program":"DZGzK8wkxRWyhEorA8SSfPbUvHRAwog8vSsKeLEx4Coz","accounts":["8gqgUdLzwjcJViRZCc3u2SFBQxbmb2HdGaQZHw82wiqG","2rH2YbtCjFxNV4JL6JC1AQixxxviBEmMk8aBYBABoukc"],"name":"add_operator","data":{"operator":"7tx3XxRt1u1bfsiwrjpaJ59hbr483Fvw1YiRmvs7ohZf"}}]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rPr>
                <a:hlinkClick r:id="rId5"/>
              </a:rPr>
              <a:t>slot 509535940 register FLj3KsBGXCh9uM7PY3ttKz13MpLvrj98i2qWY8daaa6L4DavqzKvEJY4uUyq2LPSnxhXynoKLcw2CYohiLmiQkjq2R45juxTjsVf5kUb6znLVrjNJ5uZnrY7EokkTGHccJQD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[{"program":"DZGzK8wkxRWyhEorA8SSfPbUvHRAwog8vSsKeLEx4Coz","accounts":["8gqgUdLzwjcJViRZCc3u2SFBQxbmb2HdGaQZHw82wiqG","2rH2YbtCjFxNV4JL6JC1AQixxxviBEmMk8aBYBABoukc"],"name":"add_operator","data":{"operator":"FLj3KsBGXCh9uM7PY3ttKz13MpLvrj98i2qWY8daaa6L"}}]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Decoded OperatorRegistry contains all three new keys. Existing registered test operators remain present.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>
                <a:solidFill>
                  <a:srgbClr val="91ABB4"/>
                </a:solidFill>
                <a:latin typeface="Aptos"/>
              </a:defRPr>
            </a:pPr>
            <a:r>
              <a:t>QUORUM · DEVNET EVIDENCE · 2026-10-10                         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6DE8BF"/>
                </a:solidFill>
                <a:latin typeface="Aptos"/>
              </a:defRPr>
            </a:pPr>
            <a:r>
              <a:t>05 · SOURCE BINDINGS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800">
                <a:solidFill>
                  <a:srgbClr val="EAF6F5"/>
                </a:solidFill>
                <a:latin typeface="Aptos"/>
              </a:defRPr>
            </a:pPr>
            <a:r>
              <a:t>The same asset on all three venues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3075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Venue  |  APY sample  |  Verified account  |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Marginfi  |  6.99%  |  2s37akK2eyBbp8DZgCm7RtsaEz8eJP3Nxd4urLHQv7yB  |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Save  |  1.64%  |  BgxfHJDzm44T7XG68MYKx7YisTjZu73tVovyZSjJMpmw  |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Kamino  |  4.51%  |  D6q6wuQSrifJKZYpR1M8R4YawnLDtDsMmWM1NbBmgJ59  |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Mint: EPjFWdd5AufqSSqeM2qN1xzybapC8G4wEGGkZwyTDt1v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Independent fetches verify mainnet genesis, account owner, mint, market and supported layout. Raw bytes and RPC context slots are retained.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Base lending APY excludes token incentives. Kamino legacy reserves use the SDK nominal 500ms slot convention.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>
                <a:solidFill>
                  <a:srgbClr val="91ABB4"/>
                </a:solidFill>
                <a:latin typeface="Aptos"/>
              </a:defRPr>
            </a:pPr>
            <a:r>
              <a:t>QUORUM · DEVNET EVIDENCE · 2026-10-10                         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6DE8BF"/>
                </a:solidFill>
                <a:latin typeface="Aptos"/>
              </a:defRPr>
            </a:pPr>
            <a:r>
              <a:t>06 · FEEDS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800">
                <a:solidFill>
                  <a:srgbClr val="EAF6F5"/>
                </a:solidFill>
                <a:latin typeface="Aptos"/>
              </a:defRPr>
            </a:pPr>
            <a:r>
              <a:t>Three APY feeds, three votes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3075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Venue  |  Pool / data  |  Feed PDA  |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Marginfi  |  80 / 0  |  A5XBGuLiiFmhn83BZXNz6kF5PR6vehVRDtaFvjq4mV65  |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Save  |  81 / 0  |  HXTs2z35oLW5DvUiyMuEnWo7yNXRDp3FYrG7oA22Jvtb  |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Kamino  |  82 / 0  |  H2WGBKwRwRxagHUvsaCUTVPBAjPisC6L9JWDV1E5gsSp  |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1 bps = 0.01%. Median aggregation. Minimum and maximum interval = 240 slots. Ring capacity = 256 samples.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rPr>
                <a:hlinkClick r:id="rId3"/>
              </a:rPr>
              <a:t>slot 509535960 initialize Marginfi USDC supply APY feed65E676L5jVENaim1vzuP9tRAuhLs6CMqkaBEBghkVDpbDPj9tBu5Eo9ruh8aLG2xSm5mqZ1g5KaTNxWc3Wdhu3LK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[{"program":"DZGzK8wkxRWyhEorA8SSfPbUvHRAwog8vSsKeLEx4Coz","accounts":["8gqgUdLzwjcJViRZCc3u2SFBQxbmb2HdGaQZHw82wiqG","A5XBGuLiiFmhn83BZXNz6kF5PR6vehVRDtaFvjq4mV65","2rH2YbtCjFxNV4JL6JC1AQixxxviBEmMk8aBYBABoukc","11111111111111111111111111111111"],"name":"init_data_feed","data":{"pool_id":80,"data_id":0,"config":{"measurand":0,"window_slots":240,"threshold_bps":1,"min_interval_slots":240,"max_interval_slots":240,"min_number":3,"rule":1,"trim_pct":0}}}]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rPr>
                <a:hlinkClick r:id="rId4"/>
              </a:rPr>
              <a:t>slot 509535972 initialize Save USDC supply APY feed44vbrYhDYpqPPX6vGLZ89pMhjZQ4G5Qkk7SomgYBgwC63zPXnAku96gKD52Rta7GwE5GtwcCNjhMz6QooWyg9Bp7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[{"program":"DZGzK8wkxRWyhEorA8SSfPbUvHRAwog8vSsKeLEx4Coz","accounts":["8gqgUdLzwjcJViRZCc3u2SFBQxbmb2HdGaQZHw82wiqG","HXTs2z35oLW5DvUiyMuEnWo7yNXRDp3FYrG7oA22Jvtb","2rH2YbtCjFxNV4JL6JC1AQixxxviBEmMk8aBYBABoukc","11111111111111111111111111111111"],"name":"init_data_feed","data":{"pool_id":81,"data_id":0,"config":{"measurand":0,"window_slots":240,"threshold_bps":1,"min_interval_slots":240,"max_interval_slots":240,"min_number":3,"rule":1,"trim_pct":0}}}]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rPr>
                <a:hlinkClick r:id="rId5"/>
              </a:rPr>
              <a:t>slot 509535978 initialize Kamino USDC supply APY feed2YMqA3rargAYgsaukvWkqgyscGuwpQstCKDMy19w2XWhA8ComzcWiEbtPY9meyu5bUMPjsMbafYA2x8YeDcCcYvd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[{"program":"DZGzK8wkxRWyhEorA8SSfPbUvHRAwog8vSsKeLEx4Coz","accounts":["8gqgUdLzwjcJViRZCc3u2SFBQxbmb2HdGaQZHw82wiqG","H2WGBKwRwRxagHUvsaCUTVPBAjPisC6L9JWDV1E5gsSp","2rH2YbtCjFxNV4JL6JC1AQixxxviBEmMk8aBYBABoukc","11111111111111111111111111111111"],"name":"init_data_feed","data":{"pool_id":82,"data_id":0,"config":{"measurand":0,"window_slots":240,"threshold_bps":1,"min_interval_slots":240,"max_interval_slots":240,"min_number":3,"rule":1,"trim_pct":0}}}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>
                <a:solidFill>
                  <a:srgbClr val="91ABB4"/>
                </a:solidFill>
                <a:latin typeface="Aptos"/>
              </a:defRPr>
            </a:pPr>
            <a:r>
              <a:t>QUORUM · DEVNET EVIDENCE · 2026-10-10                         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6DE8BF"/>
                </a:solidFill>
                <a:latin typeface="Aptos"/>
              </a:defRPr>
            </a:pPr>
            <a:r>
              <a:t>07 · CONTAINERS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800">
                <a:solidFill>
                  <a:srgbClr val="EAF6F5"/>
                </a:solidFill>
                <a:latin typeface="Aptos"/>
              </a:defRPr>
            </a:pPr>
            <a:r>
              <a:t>Four isolated processes stay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3075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Container  |  Signer  |  Status  |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oracle-1  |  6mTM9YQcxGdkPmAzGCF25vCkdCpJqbjEYHxChvHfeTwH  |  running / healthy  |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oracle-2  |  7tx3XxRt1u1bfsiwrjpaJ59hbr483Fvw1YiRmvs7ohZf  |  running / healthy  |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oracle-3  |  FLj3KsBGXCh9uM7PY3ttKz13MpLvrj98i2qWY8daaa6L  |  running / healthy  |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consumer  |  2rH2YbtCjFxNV4JL6JC1AQixxxviBEmMk8aBYBABoukc  |  running / healthy  |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Each producer receives only its own secret. The consumer receives the devnet admin secret. Services restart unless stopped and use read-only filesystems apart from mounted journals.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sudo docker compose -f deployment/devnet/compose.yaml 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>
                <a:solidFill>
                  <a:srgbClr val="91ABB4"/>
                </a:solidFill>
                <a:latin typeface="Aptos"/>
              </a:defRPr>
            </a:pPr>
            <a:r>
              <a:t>QUORUM · DEVNET EVIDENCE · 2026-10-10                         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6DE8BF"/>
                </a:solidFill>
                <a:latin typeface="Aptos"/>
              </a:defRPr>
            </a:pPr>
            <a:r>
              <a:t>08 · SAMPLE CONSENSUS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800">
                <a:solidFill>
                  <a:srgbClr val="EAF6F5"/>
                </a:solidFill>
                <a:latin typeface="Aptos"/>
              </a:defRPr>
            </a:pPr>
            <a:r>
              <a:t>Decode the three signed votes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3075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EAF6F5"/>
                </a:solidFill>
                <a:latin typeface="Consolas"/>
              </a:defRPr>
            </a:pPr>
            <a:r>
              <a:t>Window 2123087 · closes at 509541120 · finalized · votes 3 / 3 · median 452 bps</a:t>
            </a:r>
          </a:p>
          <a:p>
            <a:pPr>
              <a:spcAft>
                <a:spcPts val="700"/>
              </a:spcAft>
              <a:defRPr sz="1000">
                <a:solidFill>
                  <a:srgbClr val="EAF6F5"/>
                </a:solidFill>
                <a:latin typeface="Consolas"/>
              </a:defRPr>
            </a:pPr>
            <a:r>
              <a:t>Signing operator  |  Submitted APY (bps)  |</a:t>
            </a:r>
          </a:p>
          <a:p>
            <a:pPr>
              <a:spcAft>
                <a:spcPts val="700"/>
              </a:spcAft>
              <a:defRPr sz="1000">
                <a:solidFill>
                  <a:srgbClr val="EAF6F5"/>
                </a:solidFill>
                <a:latin typeface="Consolas"/>
              </a:defRPr>
            </a:pPr>
            <a:r>
              <a:t>FLj3KsBGXCh9uM7PY3ttKz13MpLvrj98i2qWY8daaa6L  |  452  |</a:t>
            </a:r>
          </a:p>
          <a:p>
            <a:pPr>
              <a:spcAft>
                <a:spcPts val="700"/>
              </a:spcAft>
              <a:defRPr sz="1000">
                <a:solidFill>
                  <a:srgbClr val="EAF6F5"/>
                </a:solidFill>
                <a:latin typeface="Consolas"/>
              </a:defRPr>
            </a:pPr>
            <a:r>
              <a:t>7tx3XxRt1u1bfsiwrjpaJ59hbr483Fvw1YiRmvs7ohZf  |  452  |</a:t>
            </a:r>
          </a:p>
          <a:p>
            <a:pPr>
              <a:spcAft>
                <a:spcPts val="700"/>
              </a:spcAft>
              <a:defRPr sz="1000">
                <a:solidFill>
                  <a:srgbClr val="EAF6F5"/>
                </a:solidFill>
                <a:latin typeface="Consolas"/>
              </a:defRPr>
            </a:pPr>
            <a:r>
              <a:t>6mTM9YQcxGdkPmAzGCF25vCkdCpJqbjEYHxChvHfeTwH  |  452  |</a:t>
            </a:r>
          </a:p>
          <a:p>
            <a:pPr>
              <a:spcAft>
                <a:spcPts val="700"/>
              </a:spcAft>
              <a:defRPr sz="1000">
                <a:solidFill>
                  <a:srgbClr val="EAF6F5"/>
                </a:solidFill>
                <a:latin typeface="Consolas"/>
              </a:defRPr>
            </a:pPr>
            <a:r>
              <a:t>R7ejTyc5gwVFooSBpxi9GcYogdCb4d4vTJzi3t955tn</a:t>
            </a:r>
          </a:p>
          <a:p>
            <a:pPr>
              <a:spcAft>
                <a:spcPts val="700"/>
              </a:spcAft>
              <a:defRPr sz="1000">
                <a:solidFill>
                  <a:srgbClr val="EAF6F5"/>
                </a:solidFill>
                <a:latin typeface="Consolas"/>
              </a:defRPr>
            </a:pPr>
            <a:r>
              <a:rPr>
                <a:hlinkClick r:id="rId3"/>
              </a:rPr>
              <a:t>slot 509540912 propose_sample / corroborate_sample USDC venues window=21230873SEM2FxmhLJs9SCzcTG6TWZmYbJoLbfqMwVqJahmGN626oZf98SMVvigE2mqJ4EgtX42nxBW6bWoJsfydy2qzTuJ</a:t>
            </a:r>
          </a:p>
          <a:p>
            <a:pPr>
              <a:spcAft>
                <a:spcPts val="700"/>
              </a:spcAft>
              <a:defRPr sz="1000">
                <a:solidFill>
                  <a:srgbClr val="EAF6F5"/>
                </a:solidFill>
                <a:latin typeface="Consolas"/>
              </a:defRPr>
            </a:pPr>
            <a:r>
              <a:t>[{"program":"DZGzK8wkxRWyhEorA8SSfPbUvHRAwog8vSsKeLEx4Coz","accounts":["8gqgUdLzwjcJViRZCc3u2SFBQxbmb2HdGaQZHw82wiqG","A5XBGuLiiFmhn83BZXNz6kF5PR6vehVRDtaFvjq4mV65","3ZYTKkWt5xwDuc6BgWNwxbENuzDQsKGcPyN44qdfoVzY","FLj3KsBGXCh9uM7PY3ttKz13MpLvrj98i2qWY8daaa6L","11111111111111111111111111111111"],"name":"propose_sample","data":{"window_index":"2123087","value":"699","slot_at_read":"509540905"}},{"program":"DZGzK8wkxRWyhEorA8SSfPbUvHRAwog8vSsKeLEx4Coz","accounts":["8gqgUdLzwjcJViRZCc3u2SFBQxbmb2HdGaQZHw82wiqG","HXTs2z35oLW5DvUiyMuEnWo7yNXRDp3FYrG7oA22Jvtb","9kCRfnJQZo6xFWKT6xYB1Ftk2hnQ4F19kT9bHfCzSo5p","FLj3KsBGXCh9uM7PY3ttKz13MpLvrj98i2qWY8daaa6L","11111111111111111111111111111111"],"name":"propose_sample","data":{"window_index":"2123087","value":"164","slot_at_read":"509540905"}},{"program":"DZGzK8wkxRWyhEorA8SSfPbUvHRAwog8vSsKeLEx4Coz","accounts":["8gqgUdLzwjcJViRZCc3u2SFBQxbmb2HdGaQZHw82wiqG","H2WGBKwRwRxagHUvsaCUTVPBAjPisC6L9JWDV1E5gsSp","R7ejTyc5gwVFooSBpxi9GcYogdCb4d4vTJzi3t955tn","FLj3KsBGXCh9uM7PY3ttKz13MpLvrj98i2qWY8daaa6L","11111111111111111111111111111111"],"name":"propose_sample","data":{"window_index":"2123087","value":"452","slot_at_read":"509540905"}}]</a:t>
            </a:r>
          </a:p>
          <a:p>
            <a:pPr>
              <a:spcAft>
                <a:spcPts val="700"/>
              </a:spcAft>
              <a:defRPr sz="1000">
                <a:solidFill>
                  <a:srgbClr val="EAF6F5"/>
                </a:solidFill>
                <a:latin typeface="Consolas"/>
              </a:defRPr>
            </a:pPr>
            <a:r>
              <a:rPr>
                <a:hlinkClick r:id="rId4"/>
              </a:rPr>
              <a:t>slot 509540968 propose_sample / corroborate_sample USDC venues window=21230875Hgiq3Jfp75s1T5r7yAbp1EcbULiwmG9BP4ac12rJ6MMNfYADrRDpYEUkS7rkkbZfVHvN9yzHhqvha3v6wQt3JbQ</a:t>
            </a:r>
          </a:p>
          <a:p>
            <a:pPr>
              <a:spcAft>
                <a:spcPts val="700"/>
              </a:spcAft>
              <a:defRPr sz="1000">
                <a:solidFill>
                  <a:srgbClr val="EAF6F5"/>
                </a:solidFill>
                <a:latin typeface="Consolas"/>
              </a:defRPr>
            </a:pPr>
            <a:r>
              <a:t>[{"program":"DZGzK8wkxRWyhEorA8SSfPbUvHRAwog8vSsKeLEx4Coz","accounts":["8gqgUdLzwjcJViRZCc3u2SFBQxbmb2HdGaQZHw82wiqG","A5XBGuLiiFmhn83BZXNz6kF5PR6vehVRDtaFvjq4mV65","3ZYTKkWt5xwDuc6BgWNwxbENuzDQsKGcPyN44qdfoVzY","7tx3XxRt1u1bfsiwrjpaJ59hbr483Fvw1YiRmvs7ohZf"],"name":"corroborate_sample","data":{"window_index":"2123087","value":"699","slot_at_read":"509540917"}},{"program":"DZGzK8wkxRWyhEorA8SSfPbUvHRAwog8vSsKeLEx4Coz","accounts":["8gqgUdLzwjcJViRZCc3u2SFBQxbmb2HdGaQZHw82wiqG","HXTs2z35oLW5DvUiyMuEnWo7yNXRDp3FYrG7oA22Jvtb","9kCRfnJQZo6xFWKT6xYB1Ftk2hnQ4F19kT9bHfCzSo5p","7tx3XxRt1u1bfsiwrjpaJ59hbr483Fvw1YiRmvs7ohZf"],"name":"corroborate_sample","data":{"window_index":"2123087","value":"164","slot_at_read":"509540917"}},{"program":"DZGzK8wkxRWyhEorA8SSfPbUvHRAwog8vSsKeLEx4Coz","accounts":["8gqgUdLzwjcJViRZCc3u2SFBQxbmb2HdGaQZHw82wiqG","H2WGBKwRwRxagHUvsaCUTVPBAjPisC6L9JWDV1E5gsSp","R7ejTyc5gwVFooSBpxi9GcYogdCb4d4vTJzi3t955tn","7tx3XxRt1u1bfsiwrjpaJ59hbr483Fvw1YiRmvs7ohZf"],"name":"corroborate_sample","data":{"window_index":"2123087","value":"452","slot_at_read":"509540917"}}]</a:t>
            </a:r>
          </a:p>
          <a:p>
            <a:pPr>
              <a:spcAft>
                <a:spcPts val="700"/>
              </a:spcAft>
              <a:defRPr sz="1000">
                <a:solidFill>
                  <a:srgbClr val="EAF6F5"/>
                </a:solidFill>
                <a:latin typeface="Consolas"/>
              </a:defRPr>
            </a:pPr>
            <a:r>
              <a:t>The observer re-decodes archived bytes, verifies the three submitters and recomputes the median.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>
                <a:solidFill>
                  <a:srgbClr val="91ABB4"/>
                </a:solidFill>
                <a:latin typeface="Aptos"/>
              </a:defRPr>
            </a:pPr>
            <a:r>
              <a:t>QUORUM · DEVNET EVIDENCE · 2026-10-10                         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6DE8BF"/>
                </a:solidFill>
                <a:latin typeface="Aptos"/>
              </a:defRPr>
            </a:pPr>
            <a:r>
              <a:t>09 ·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800">
                <a:solidFill>
                  <a:srgbClr val="EAF6F5"/>
                </a:solidFill>
                <a:latin typeface="Aptos"/>
              </a:defRPr>
            </a:pPr>
            <a:r>
              <a:t>Yield → normalize → 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3075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Venue  |  Input APY bps  |  Risk  |  Cap  |  Weight  |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Marginfi  |  699  |  0 bps  |  50%  |  50.00%  |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Save  |  164  |  0 bps  |  50%  |  14.70%  |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Kamino  |  452  |  0 bps  |  50%  |  35.30%  |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Integer arithmetic; largest-remainder rounding; cap redistribution proportional to available headroom. The demo JS calculation was checked against the production Rust rubric.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Risk discount = 0 is a neutral demonstration policy, not a protocol risk assessment.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>
                <a:solidFill>
                  <a:srgbClr val="91ABB4"/>
                </a:solidFill>
                <a:latin typeface="Aptos"/>
              </a:defRPr>
            </a:pPr>
            <a:r>
              <a:t>QUORUM · DEVNET EVIDENCE · 2026-10-10                         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6DE8BF"/>
                </a:solidFill>
                <a:latin typeface="Aptos"/>
              </a:defRPr>
            </a:pPr>
            <a:r>
              <a:t>10 · WEIGHT 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800">
                <a:solidFill>
                  <a:srgbClr val="EAF6F5"/>
                </a:solidFill>
                <a:latin typeface="Aptos"/>
              </a:defRPr>
            </a:pPr>
            <a:r>
              <a:t>Open, submit, finalize on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3075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rPr>
                <a:hlinkClick r:id="rId3"/>
              </a:rPr>
              <a:t>slot 509539012 open allocation 509539005 quorum=13akvoLNC4LQT1Y8m9ToodbZG4geTfC5ajVmh8YkBBixAdowTced8rtzSQhUGB4KvJCwHBNAqGJQ2HHs7cDvwzfN2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[{"program":"DZGzK8wkxRWyhEorA8SSfPbUvHRAwog8vSsKeLEx4Coz","accounts":["8gqgUdLzwjcJViRZCc3u2SFBQxbmb2HdGaQZHw82wiqG","7kKAGHd1cS7Wak9aMpKgKpbPNxVs1fQKDuqYD65oyXUw","2rH2YbtCjFxNV4JL6JC1AQixxxviBEmMk8aBYBABoukc","11111111111111111111111111111111"],"name":"open_allocation_round","data":{"round":"509539005","closes_at_slot":"509539085","min_number":1,"rule":1,"trim_pct":0}}]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rPr>
                <a:hlinkClick r:id="rId4"/>
              </a:rPr>
              <a:t>slot 509539020 submit allocation 509539005QcaAPddUsXN4gasqjZwPAPJAtdeHcp7ZhS1Ns3BxXwxBRnuGK7h87VgDxDEccHas2iiwacRduyZ7hTpUGLRNUnW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[{"program":"DZGzK8wkxRWyhEorA8SSfPbUvHRAwog8vSsKeLEx4Coz","accounts":["8gqgUdLzwjcJViRZCc3u2SFBQxbmb2HdGaQZHw82wiqG","7kKAGHd1cS7Wak9aMpKgKpbPNxVs1fQKDuqYD65oyXUw","2rH2YbtCjFxNV4JL6JC1AQixxxviBEmMk8aBYBABoukc"],"name":"submit_weights","data":{"round":"509539005","weights":[5000,1474,3526,0,0,0,0,0,0,0,0,0,0,0,0,0]}}]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rPr>
                <a:hlinkClick r:id="rId5"/>
              </a:rPr>
              <a:t>slot 509539116 finalize allocation 5095390053z8zSz2AS2dmdNQEB9GTvy1ozBKyZ8aJP6dZ1TKaty1keHHfhaFUGeEDkiAqTpNZa67EWqrAHKpaLwoFg8G7Si6x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[{"program":"DZGzK8wkxRWyhEorA8SSfPbUvHRAwog8vSsKeLEx4Coz","accounts":["7kKAGHd1cS7Wak9aMpKgKpbPNxVs1fQKDuqYD65oyXUw","Fxm3c6cfmHb3taPdqVcka6USRAHkytZn3zyBUAwPbS8S","2rH2YbtCjFxNV4JL6JC1AQixxxviBEmMk8aBYBABoukc"],"name":"finalize_allocation","data":{"round":"509539005"}}]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The consumer starts a fresh round when all three feed heads advance together, waits for the closing slot, and finalizes the weights.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>
                <a:solidFill>
                  <a:srgbClr val="91ABB4"/>
                </a:solidFill>
                <a:latin typeface="Aptos"/>
              </a:defRPr>
            </a:pPr>
            <a:r>
              <a:t>QUORUM · DEVNET EVIDENCE · 2026-10-10                         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6DE8BF"/>
                </a:solidFill>
                <a:latin typeface="Aptos"/>
              </a:defRPr>
            </a:pPr>
            <a:r>
              <a:t>11 · OBSERVE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800">
                <a:solidFill>
                  <a:srgbClr val="EAF6F5"/>
                </a:solidFill>
                <a:latin typeface="Aptos"/>
              </a:defRPr>
            </a:pPr>
            <a:r>
              <a:t>AllocationState advances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3075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Consolas"/>
              </a:defRPr>
            </a:pPr>
            <a:r>
              <a:t>Fxm3c6cfmHb3taPdqVcka6USRAHkytZn3zyBUAwPbS8S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Consolas"/>
              </a:defRPr>
            </a:pPr>
            <a:r>
              <a:t>15 snapshots over 240 seconds; 4 allocations published during observation.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Consolas"/>
              </a:defRPr>
            </a:pPr>
            <a:r>
              <a:t>{"round":"509541197","updated_slot":"509541307","weights":[5000,1470,3530,0,0,0,0,0,0,0,0,0,0,0,0,0]}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4114800"/>
          <a:ext cx="1280160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>
                <a:solidFill>
                  <a:srgbClr val="91ABB4"/>
                </a:solidFill>
                <a:latin typeface="Aptos"/>
              </a:defRPr>
            </a:pPr>
            <a:r>
              <a:t>QUORUM · DEVNET EVIDENCE · 2026-10-10                         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6DE8BF"/>
                </a:solidFill>
                <a:latin typeface="Aptos"/>
              </a:defRPr>
            </a:pPr>
            <a:r>
              <a:t>12 · CONTINUITY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800">
                <a:solidFill>
                  <a:srgbClr val="EAF6F5"/>
                </a:solidFill>
                <a:latin typeface="Aptos"/>
              </a:defRPr>
            </a:pPr>
            <a:r>
              <a:t>Archive proof, then return 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3075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rPr>
                <a:hlinkClick r:id="rId3"/>
              </a:rPr>
              <a:t>slot 509536852 reclaim Save sample rent 21230695ForkM8WXant49sVojYktsKdpq6aTPYv1pdq8hi3gdRYhwKNhNHMQqHexoqKwRW5bAmt2vSeQRfr5dJbL32xgoFv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[{"program":"DZGzK8wkxRWyhEorA8SSfPbUvHRAwog8vSsKeLEx4Coz","accounts":["HXTs2z35oLW5DvUiyMuEnWo7yNXRDp3FYrG7oA22Jvtb","3nhG7dQ8zd6k8fgUrvsrDvTdDkk16tXDKSJKkuqmdQAk","FLj3KsBGXCh9uM7PY3ttKz13MpLvrj98i2qWY8daaa6L"],"name":"close_sample_consensus","data":{"window_index":"2123069"}}]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rPr>
                <a:hlinkClick r:id="rId4"/>
              </a:rPr>
              <a:t>slot 509536864 reclaim Kamino sample rent 21230694qYbFU8d6GNzUDSFBY43biN5id5Zpe8q1k9nTEqACPj9HtTVMSoS2GoKD9qGjMc5sGm5Y6oNuXJtLemTeHmvLHVc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[{"program":"DZGzK8wkxRWyhEorA8SSfPbUvHRAwog8vSsKeLEx4Coz","accounts":["H2WGBKwRwRxagHUvsaCUTVPBAjPisC6L9JWDV1E5gsSp","HWiBnG6z9pCB7CvXc6YbKzWuUZdbUn6zwV4jYyQhGE8Q","7tx3XxRt1u1bfsiwrjpaJ59hbr483Fvw1YiRmvs7ohZf"],"name":"close_sample_consensus","data":{"window_index":"2123069"}}]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Persistent ring buffers and AllocationState remain on chain. Completed consensus bytes are archived before closing. Submissions and finalization instructions remain verifiable in fetched transactions.</a:t>
            </a:r>
          </a:p>
          <a:p>
            <a:pPr>
              <a:spcAft>
                <a:spcPts val="700"/>
              </a:spcAft>
              <a:defRPr sz="1300">
                <a:solidFill>
                  <a:srgbClr val="EAF6F5"/>
                </a:solidFill>
                <a:latin typeface="Aptos"/>
              </a:defRPr>
            </a:pPr>
            <a:r>
              <a:t>Devnet checks rejected open-account closure and unauthorized rent reclamation. The allocation closure test returned rent minus its transaction fee.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>
                <a:solidFill>
                  <a:srgbClr val="91ABB4"/>
                </a:solidFill>
                <a:latin typeface="Aptos"/>
              </a:defRPr>
            </a:pPr>
            <a:r>
              <a:t>QUORUM · DEVNET EVIDENCE · 2026-10-10                         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6DE8BF"/>
                </a:solidFill>
                <a:latin typeface="Aptos"/>
              </a:defRPr>
            </a:pPr>
            <a:r>
              <a:t>13 ·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800">
                <a:solidFill>
                  <a:srgbClr val="EAF6F5"/>
                </a:solidFill>
                <a:latin typeface="Aptos"/>
              </a:defRPr>
            </a:pPr>
            <a:r>
              <a:t>Verified and still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3075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Marginfi50.00%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Save14.70%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Kamino35.30%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Weights sum to 100%. The three oracles and consumer were verified running and healthy after observation.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34 finalized venue windows verified; 203 confirmed transactions fetched and decoded.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Devnet fee funding is finite. This system publishes allocation signals; it does not move capital.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>
                <a:solidFill>
                  <a:srgbClr val="91ABB4"/>
                </a:solidFill>
                <a:latin typeface="Aptos"/>
              </a:defRPr>
            </a:pPr>
            <a:r>
              <a:t>QUORUM · DEVNET EVIDENCE · 2026-10-10                         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6DE8BF"/>
                </a:solidFill>
                <a:latin typeface="Aptos"/>
              </a:defRPr>
            </a:pPr>
            <a:r>
              <a:t>14 ·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800">
                <a:solidFill>
                  <a:srgbClr val="EAF6F5"/>
                </a:solidFill>
                <a:latin typeface="Aptos"/>
              </a:defRPr>
            </a:pPr>
            <a:r>
              <a:t>Reproduce and inspect every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3075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./scripts/devnet/deploy-system.sh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OutcomeRaw + decoded PDAsFetched + decoded transactionsSources + consensus archivesSHA-256 manifest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Official SDKs: Marginfi · Save · Kamino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Static neutral risk discount (0 bps) and 50% per-venue caps are an explicit demo policy.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Base supply interest APY excludes token incentive emissions.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The single consumer uses the devnet registry admin to open rounds; producer containers only receive their own key.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Samples attest agreement by three operators using the same public mainnet RPC; this is not source decentralization.</a:t>
            </a:r>
          </a:p>
          <a:p>
            <a:pPr>
              <a:spcAft>
                <a:spcPts val="700"/>
              </a:spcAft>
              <a:defRPr sz="1700">
                <a:solidFill>
                  <a:srgbClr val="EAF6F5"/>
                </a:solidFill>
                <a:latin typeface="Aptos"/>
              </a:defRPr>
            </a:pPr>
            <a:r>
              <a:t>Latest feed reads have an RPC context lower bound; historical input commitments are not implemented.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81812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>
                <a:solidFill>
                  <a:srgbClr val="91ABB4"/>
                </a:solidFill>
                <a:latin typeface="Aptos"/>
              </a:defRPr>
            </a:pPr>
            <a:r>
              <a:t>QUORUM · DEVNET EVIDENCE · 2026-10-10                         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